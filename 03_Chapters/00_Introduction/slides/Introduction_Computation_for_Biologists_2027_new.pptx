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6256020" cy="9144000"/>
  <p:notesSz cx="9144000" cy="162560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60395b4f-ac28-0625-7304-4b3f70f7d4e3}">
          <p14:sldIdLst>
            <p14:sldId id="256"/>
            <p14:sldId id="257"/>
          </p14:sldIdLst>
        </p14:section>
        <p14:section name="Q1 · Why computation" id="{b172fb09-ff8d-9e5d-f067-ff369d937f96}">
          <p14:sldIdLst>
            <p14:sldId id="258"/>
            <p14:sldId id="259"/>
            <p14:sldId id="260"/>
            <p14:sldId id="261"/>
          </p14:sldIdLst>
        </p14:section>
        <p14:section name="Q2 · What is computation" id="{eaf2799e-4ebc-6ca8-f44c-bd5bbb036f75}">
          <p14:sldIdLst>
            <p14:sldId id="262"/>
            <p14:sldId id="263"/>
          </p14:sldIdLst>
        </p14:section>
        <p14:section name="Q3 · Efficient computation" id="{c3dca9b0-796b-18c8-974c-b79328f27b35}">
          <p14:sldIdLst>
            <p14:sldId id="264"/>
            <p14:sldId id="265"/>
          </p14:sldIdLst>
        </p14:section>
        <p14:section name="Q4 · Limits of computation" id="{d917ad6f-1bbd-d500-a35b-4d7c05084f53}">
          <p14:sldIdLst>
            <p14:sldId id="266"/>
            <p14:sldId id="267"/>
          </p14:sldIdLst>
        </p14:section>
        <p14:section name="Q5 · Using AI correctly" id="{4070a890-90f9-2046-e10e-8b2e5495ece4}">
          <p14:sldIdLst>
            <p14:sldId id="268"/>
            <p14:sldId id="269"/>
          </p14:sldIdLst>
        </p14:section>
        <p14:section name="Q6 · AI and the limits" id="{0904b75c-d637-7297-ab53-9dd6e7d28231}">
          <p14:sldIdLst>
            <p14:sldId id="270"/>
          </p14:sldIdLst>
        </p14:section>
        <p14:section name="The course" id="{106c8711-febb-9031-3aab-cdf39699db29}">
          <p14:sldIdLst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1B2A41"/>
                </a:solidFill>
                <a:latin typeface="+mn-lt"/>
              </a:rPr>
              <a:t>Steps needed vs. input size n (log scale)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</c:v>
                </c:pt>
              </c:strCache>
            </c:strRef>
          </c:tx>
          <c:spPr>
            <a:solidFill>
              <a:srgbClr val="4E9A4B"/>
            </a:solidFill>
            <a:ln w="38100" cap="flat">
              <a:solidFill>
                <a:srgbClr val="4E9A4B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4E9A4B"/>
              </a:solidFill>
              <a:ln w="9525" cap="flat">
                <a:solidFill>
                  <a:srgbClr val="4E9A4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  <c:pt idx="5">
                    <c:v>60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n²</c:v>
                </c:pt>
              </c:strCache>
            </c:strRef>
          </c:tx>
          <c:spPr>
            <a:solidFill>
              <a:srgbClr val="2F6DB5"/>
            </a:solidFill>
            <a:ln w="38100" cap="flat">
              <a:solidFill>
                <a:srgbClr val="2F6DB5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2F6DB5"/>
              </a:solidFill>
              <a:ln w="9525" cap="flat">
                <a:solidFill>
                  <a:srgbClr val="2F6DB5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  <c:pt idx="5">
                    <c:v>60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</c:v>
                </c:pt>
                <c:pt idx="1">
                  <c:v>400</c:v>
                </c:pt>
                <c:pt idx="2">
                  <c:v>900</c:v>
                </c:pt>
                <c:pt idx="3">
                  <c:v>1600</c:v>
                </c:pt>
                <c:pt idx="4">
                  <c:v>2500</c:v>
                </c:pt>
                <c:pt idx="5">
                  <c:v>3600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n³</c:v>
                </c:pt>
              </c:strCache>
            </c:strRef>
          </c:tx>
          <c:spPr>
            <a:solidFill>
              <a:srgbClr val="6C5BA8"/>
            </a:solidFill>
            <a:ln w="38100" cap="flat">
              <a:solidFill>
                <a:srgbClr val="6C5BA8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6C5BA8"/>
              </a:solidFill>
              <a:ln w="9525" cap="flat">
                <a:solidFill>
                  <a:srgbClr val="6C5BA8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  <c:pt idx="5">
                    <c:v>60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1000</c:v>
                </c:pt>
                <c:pt idx="1">
                  <c:v>8000</c:v>
                </c:pt>
                <c:pt idx="2">
                  <c:v>27000</c:v>
                </c:pt>
                <c:pt idx="3">
                  <c:v>64000</c:v>
                </c:pt>
                <c:pt idx="4">
                  <c:v>125000</c:v>
                </c:pt>
                <c:pt idx="5">
                  <c:v>216000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2ⁿ</c:v>
                </c:pt>
              </c:strCache>
            </c:strRef>
          </c:tx>
          <c:spPr>
            <a:solidFill>
              <a:srgbClr val="C2452D"/>
            </a:solidFill>
            <a:ln w="38100" cap="flat">
              <a:solidFill>
                <a:srgbClr val="C2452D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C2452D"/>
              </a:solidFill>
              <a:ln w="9525" cap="flat">
                <a:solidFill>
                  <a:srgbClr val="C2452D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  <c:pt idx="5">
                    <c:v>60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1024</c:v>
                </c:pt>
                <c:pt idx="1">
                  <c:v>1048576</c:v>
                </c:pt>
                <c:pt idx="2">
                  <c:v>1073741824</c:v>
                </c:pt>
                <c:pt idx="3">
                  <c:v>1099511627776</c:v>
                </c:pt>
                <c:pt idx="4">
                  <c:v>1125899906842624</c:v>
                </c:pt>
                <c:pt idx="5">
                  <c:v>1152921504606847000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33404F"/>
                    </a:solidFill>
                    <a:latin typeface="Arial"/>
                  </a:defRPr>
                </a:pPr>
                <a:r>
                  <a:rPr sz="1400" b="0" i="0" u="none" strike="noStrike">
                    <a:solidFill>
                      <a:srgbClr val="33404F"/>
                    </a:solidFill>
                    <a:latin typeface="Arial"/>
                  </a:rPr>
                  <a:t>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404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in val="1"/>
        </c:scaling>
        <c:delete val="0"/>
        <c:axPos val="l"/>
        <c:majorGridlines>
          <c:spPr>
            <a:ln w="9525" cap="flat">
              <a:solidFill>
                <a:srgbClr val="D9E1E7"/>
              </a:solidFill>
              <a:prstDash val="solid"/>
              <a:round/>
            </a:ln>
          </c:spPr>
        </c:majorGridlines>
        <c:numFmt formatCode="0E+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404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1B2A4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course is for biologists with no CS background. Today is not yet about Python syntax: it frames six questions that the whole course will answer. The six circles on the right are those questions; the same colours tag them throughout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the six questions on the board and leave them there. Ask the class to guess an answer to each now; we will return to them in the last slide and again in lesson 13. The bottom line on each card says where in the course the full answer lives.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explosion: the amount of biological data now exceeds what manual analysis can handle. The bridge is algorithmic thinking, not just more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traditional to the computational mindset: data handling, tool reliance, collaboration. Goal: self-efficacy — the confidence to use computation in your own research.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workflow we will practise all semester: identify the bottleneck, formulate the logic (including its time and memory cost), implement in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3.1×10^9 seconds ≈ 98 years — let students do the arithmetic. The cost drop (faster than Moore's law) is why data, not sequencing, is now the bottleneck. AlphaFold DB: &gt;200M predicted structures, released by DeepMind and EMBL-EBI in 2022.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distinction matters all semester: a problem is a specification (input → desired output); an algorithm is a precise method; a program is one implementation. The example sequence is from M. tuberculosis (as in the textbook): 6 of 18 letters are G/C → 33.33%. Run it live in the intro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Tests make 'correct' concrete: assert states what the code is supposed to do (lesson 2). The empty-string case foreshadows lesson 3 (empty or malformed biological files) and lesson 12 (silent failures in AI-generated code). Ask: what should the function return? None? Raise a clear error?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(3×10^9)^2 = 9×10^18 comparisons; at 10^9 per second that is 9×10^9 s ≈ 285 years. The hash-based method (lesson 6) needs roughly one table operation per position. It pays in memory: the table stores billions of entries — the time/memory trade-off of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Polynomial curves stay manageable; the exponential 2^n reaches 10^18 by n = 60. Memory example: 2048·2048·2 bytes = 8 MiB per frame; ×3×1000 ≈ 25 GB. Lesson 5 formalises worst-case time and memory complexity and asymptotic bounds; HW 2 measures both in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Unrooted binary trees on n leaves: (2n−5)!! — 2,027,025 for 10 species; 2.2×10^20 for 20; 2.8×10^74 for 50. Checking them one by one is hopeless even at 10^9 per second. Maximum parsimony is NP-hard; in practice we use heuristics that give good, not guaranteed-best, trees. Full treatment: lesson 13 (chapters 10–11).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Collatz (3n+1) conjecture: nine lines of Python whose termination nobody can prove. Let students run steps(27) in the notebook. Careful: Collatz is an open problem, not an undecidable one — it is an intuition pump. The undecidability of the general halting problem is a theorem (Turing, 1936).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five-step loop is what HW 5 asks you to document: the prompt (Specify), the initial output (Generate), your fixes (Read/Own), and the tests that prove them (Test). The four failure types are the checklist for the code-review assignment — note that wasting time or memory counts as a defect, not only wrong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course AI policy from the syllabus. The order is deliberate, not a ban for its own sake: lessons 1–9 build the reading skill that lessons 10–13 depend on. The midterm (lesson 9) is written and AI-free — practise accordingly.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thesis of lesson 13. AlphaFold is a good discussion example: it made structure prediction practical for a huge number of proteins, through learning from data, not by making a hard computational problem easy in the worst case. Its per-residue confidence (pLDDT) is exactly the kind of output a scientist must read critically. Ask: what would convince you an AI-written analysis is right?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small coloured icons on each module show which of the six questions it mainly answers. Readings: Chor &amp; Rubenstein, chapters 1–11, as listed in the syllabus. The shaded band marks lessons 10–13, where AI tools are part of the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Weights as in the syllabus. The midterm is protective (מגן): if the final exam grade is higher, the exam counts 75% and the midterm drops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TA's name spelling and tutorial slot before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 kept from the original slide. The course follows his and Amir Rubenstein's book; its approach — algorithmic thinking for biologists, not tool usage — is the spirit of this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 answers to the six questions — the short versions we will earn properly over the semester. Then switch to the notebook and start lesson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103120"/>
            <a:ext cx="877824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rtl="0"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4663440"/>
            <a:ext cx="896112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rgbClr val="F2F6FA"/>
                </a:solidFill>
              </a:defRPr>
            </a:lvl1pPr>
          </a:lstStyle>
          <a:p>
            <a:pPr rtl="0"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868680"/>
            <a:ext cx="148132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rtl="0"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/>
        </p:nvSpPr>
        <p:spPr>
          <a:xfrm>
            <a:off x="731520" y="8549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1400" dirty="0">
                <a:solidFill>
                  <a:srgbClr val="33404F"/>
                </a:solidFill>
              </a:rPr>
              <a:t>Introduction to CS for Biologists  ·  Lesson 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4813280" y="8549640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33404F"/>
                </a:solidFill>
              </a:defRPr>
            </a:lvl1pPr>
          </a:lstStyle>
          <a:p>
            <a:pPr rtl="0"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4813280" y="8549640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33404F"/>
                </a:solidFill>
              </a:defRPr>
            </a:lvl1pPr>
          </a:lstStyle>
          <a:p>
            <a:pPr rtl="0"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103120"/>
            <a:ext cx="8778240" cy="23774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rtl="0"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Computer Science for Biologists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4663440"/>
            <a:ext cx="8961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0" algn="l" indent="0" marL="0">
              <a:buNone/>
            </a:pPr>
            <a:r>
              <a:rPr lang="en-US" sz="2800" dirty="0">
                <a:solidFill>
                  <a:srgbClr val="F2F6FA"/>
                </a:solidFill>
              </a:rPr>
              <a:t>Lesson 1 · Why compute, what is computation, how fast, how far — and where AI fits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758952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900" dirty="0">
                <a:solidFill>
                  <a:srgbClr val="DCE6EF"/>
                </a:solidFill>
              </a:rPr>
              <a:t>Dr. Arie Fouren  ·  Faculty of Life Sciences, Bar-Ilan University  ·  2026–27, Semester A</a:t>
            </a:r>
            <a:endParaRPr lang="en-US" sz="1900" dirty="0"/>
          </a:p>
        </p:txBody>
      </p:sp>
      <p:sp>
        <p:nvSpPr>
          <p:cNvPr id="5" name="Q1 circle"/>
          <p:cNvSpPr/>
          <p:nvPr/>
        </p:nvSpPr>
        <p:spPr>
          <a:xfrm>
            <a:off x="10972800" y="1737360"/>
            <a:ext cx="1554480" cy="1554480"/>
          </a:xfrm>
          <a:prstGeom prst="ellipse">
            <a:avLst/>
          </a:prstGeom>
          <a:solidFill>
            <a:srgbClr val="4E9A4B"/>
          </a:solidFill>
          <a:ln w="12700">
            <a:solidFill>
              <a:srgbClr val="4E9A4B"/>
            </a:solidFill>
            <a:prstDash val="solid"/>
          </a:ln>
        </p:spPr>
      </p:sp>
      <p:pic>
        <p:nvPicPr>
          <p:cNvPr id="6" name="Q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4786" y="2079346"/>
            <a:ext cx="870509" cy="870509"/>
          </a:xfrm>
          <a:prstGeom prst="rect">
            <a:avLst/>
          </a:prstGeom>
        </p:spPr>
      </p:pic>
      <p:sp>
        <p:nvSpPr>
          <p:cNvPr id="7" name="Q2 circle"/>
          <p:cNvSpPr/>
          <p:nvPr/>
        </p:nvSpPr>
        <p:spPr>
          <a:xfrm>
            <a:off x="13167360" y="1737360"/>
            <a:ext cx="1554480" cy="155448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8" name="Q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9346" y="2079346"/>
            <a:ext cx="870509" cy="870509"/>
          </a:xfrm>
          <a:prstGeom prst="rect">
            <a:avLst/>
          </a:prstGeom>
        </p:spPr>
      </p:pic>
      <p:sp>
        <p:nvSpPr>
          <p:cNvPr id="9" name="Q3 circle"/>
          <p:cNvSpPr/>
          <p:nvPr/>
        </p:nvSpPr>
        <p:spPr>
          <a:xfrm>
            <a:off x="10972800" y="3749040"/>
            <a:ext cx="1554480" cy="155448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pic>
        <p:nvPicPr>
          <p:cNvPr id="10" name="Q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4786" y="4091026"/>
            <a:ext cx="870509" cy="870509"/>
          </a:xfrm>
          <a:prstGeom prst="rect">
            <a:avLst/>
          </a:prstGeom>
        </p:spPr>
      </p:pic>
      <p:sp>
        <p:nvSpPr>
          <p:cNvPr id="11" name="Q4 circle"/>
          <p:cNvSpPr/>
          <p:nvPr/>
        </p:nvSpPr>
        <p:spPr>
          <a:xfrm>
            <a:off x="13167360" y="3749040"/>
            <a:ext cx="1554480" cy="1554480"/>
          </a:xfrm>
          <a:prstGeom prst="ellipse">
            <a:avLst/>
          </a:prstGeom>
          <a:solidFill>
            <a:srgbClr val="C2452D"/>
          </a:solidFill>
          <a:ln w="12700">
            <a:solidFill>
              <a:srgbClr val="C2452D"/>
            </a:solidFill>
            <a:prstDash val="solid"/>
          </a:ln>
        </p:spPr>
      </p:sp>
      <p:pic>
        <p:nvPicPr>
          <p:cNvPr id="12" name="Q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09346" y="4091026"/>
            <a:ext cx="870509" cy="870509"/>
          </a:xfrm>
          <a:prstGeom prst="rect">
            <a:avLst/>
          </a:prstGeom>
        </p:spPr>
      </p:pic>
      <p:sp>
        <p:nvSpPr>
          <p:cNvPr id="13" name="Q5 circle"/>
          <p:cNvSpPr/>
          <p:nvPr/>
        </p:nvSpPr>
        <p:spPr>
          <a:xfrm>
            <a:off x="10972800" y="5760720"/>
            <a:ext cx="1554480" cy="1554480"/>
          </a:xfrm>
          <a:prstGeom prst="ellipse">
            <a:avLst/>
          </a:prstGeom>
          <a:solidFill>
            <a:srgbClr val="D98A1F"/>
          </a:solidFill>
          <a:ln w="12700">
            <a:solidFill>
              <a:srgbClr val="D98A1F"/>
            </a:solidFill>
            <a:prstDash val="solid"/>
          </a:ln>
        </p:spPr>
      </p:sp>
      <p:pic>
        <p:nvPicPr>
          <p:cNvPr id="14" name="Q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14786" y="6102706"/>
            <a:ext cx="870509" cy="870509"/>
          </a:xfrm>
          <a:prstGeom prst="rect">
            <a:avLst/>
          </a:prstGeom>
        </p:spPr>
      </p:pic>
      <p:sp>
        <p:nvSpPr>
          <p:cNvPr id="15" name="Q6 circle"/>
          <p:cNvSpPr/>
          <p:nvPr/>
        </p:nvSpPr>
        <p:spPr>
          <a:xfrm>
            <a:off x="13167360" y="5760720"/>
            <a:ext cx="1554480" cy="1554480"/>
          </a:xfrm>
          <a:prstGeom prst="ellipse">
            <a:avLst/>
          </a:prstGeom>
          <a:solidFill>
            <a:srgbClr val="6C5BA8"/>
          </a:solidFill>
          <a:ln w="12700">
            <a:solidFill>
              <a:srgbClr val="6C5BA8"/>
            </a:solidFill>
            <a:prstDash val="solid"/>
          </a:ln>
        </p:spPr>
      </p:sp>
      <p:pic>
        <p:nvPicPr>
          <p:cNvPr id="16" name="Q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09346" y="6102706"/>
            <a:ext cx="870509" cy="8705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868680"/>
            <a:ext cx="1481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3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questions this course will answer</a:t>
            </a:r>
            <a:endParaRPr lang="en-US" sz="3800" dirty="0"/>
          </a:p>
        </p:txBody>
      </p:sp>
      <p:sp>
        <p:nvSpPr>
          <p:cNvPr id="3" name="Q1 card"/>
          <p:cNvSpPr/>
          <p:nvPr/>
        </p:nvSpPr>
        <p:spPr>
          <a:xfrm>
            <a:off x="731520" y="2148840"/>
            <a:ext cx="4636008" cy="2743200"/>
          </a:xfrm>
          <a:prstGeom prst="roundRect">
            <a:avLst>
              <a:gd name="adj" fmla="val 5000"/>
            </a:avLst>
          </a:prstGeom>
          <a:solidFill>
            <a:srgbClr val="4E9A4B">
              <a:alpha val="10000"/>
            </a:srgbClr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4" name="Q1 circle"/>
          <p:cNvSpPr/>
          <p:nvPr/>
        </p:nvSpPr>
        <p:spPr>
          <a:xfrm>
            <a:off x="1051560" y="2468880"/>
            <a:ext cx="868680" cy="868680"/>
          </a:xfrm>
          <a:prstGeom prst="ellipse">
            <a:avLst/>
          </a:prstGeom>
          <a:solidFill>
            <a:srgbClr val="4E9A4B"/>
          </a:solidFill>
          <a:ln w="12700">
            <a:solidFill>
              <a:srgbClr val="4E9A4B"/>
            </a:solidFill>
            <a:prstDash val="solid"/>
          </a:ln>
        </p:spPr>
      </p:sp>
      <p:pic>
        <p:nvPicPr>
          <p:cNvPr id="5" name="Q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2670" y="2659990"/>
            <a:ext cx="486461" cy="48646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103120" y="2606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2400" b="1" dirty="0">
                <a:solidFill>
                  <a:srgbClr val="4E9A4B"/>
                </a:solidFill>
              </a:rPr>
              <a:t>Q1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3474720"/>
            <a:ext cx="3995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900" b="1" dirty="0">
                <a:solidFill>
                  <a:srgbClr val="1B2A41"/>
                </a:solidFill>
              </a:rPr>
              <a:t>Why does computation matter for the life sciences?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4297680"/>
            <a:ext cx="3995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500" dirty="0">
                <a:solidFill>
                  <a:srgbClr val="33404F"/>
                </a:solidFill>
              </a:rPr>
              <a:t>Today, and in every lesson</a:t>
            </a:r>
            <a:endParaRPr lang="en-US" sz="1500" dirty="0"/>
          </a:p>
        </p:txBody>
      </p:sp>
      <p:sp>
        <p:nvSpPr>
          <p:cNvPr id="9" name="Q2 card"/>
          <p:cNvSpPr/>
          <p:nvPr/>
        </p:nvSpPr>
        <p:spPr>
          <a:xfrm>
            <a:off x="5733288" y="2148840"/>
            <a:ext cx="4636008" cy="2743200"/>
          </a:xfrm>
          <a:prstGeom prst="roundRect">
            <a:avLst>
              <a:gd name="adj" fmla="val 5000"/>
            </a:avLst>
          </a:prstGeom>
          <a:solidFill>
            <a:srgbClr val="0E7C7B">
              <a:alpha val="10000"/>
            </a:srgbClr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10" name="Q2 circle"/>
          <p:cNvSpPr/>
          <p:nvPr/>
        </p:nvSpPr>
        <p:spPr>
          <a:xfrm>
            <a:off x="6053328" y="2468880"/>
            <a:ext cx="868680" cy="86868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1" name="Q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438" y="2659990"/>
            <a:ext cx="486461" cy="48646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04888" y="2606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2400" b="1" dirty="0">
                <a:solidFill>
                  <a:srgbClr val="0E7C7B"/>
                </a:solidFill>
              </a:rPr>
              <a:t>Q2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6053328" y="3474720"/>
            <a:ext cx="3995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900" b="1" dirty="0">
                <a:solidFill>
                  <a:srgbClr val="1B2A41"/>
                </a:solidFill>
              </a:rPr>
              <a:t>What is computation?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6053328" y="4297680"/>
            <a:ext cx="3995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500" dirty="0">
                <a:solidFill>
                  <a:srgbClr val="33404F"/>
                </a:solidFill>
              </a:rPr>
              <a:t>Lessons 1–4: Python, readable code</a:t>
            </a:r>
            <a:endParaRPr lang="en-US" sz="1500" dirty="0"/>
          </a:p>
        </p:txBody>
      </p:sp>
      <p:sp>
        <p:nvSpPr>
          <p:cNvPr id="15" name="Q3 card"/>
          <p:cNvSpPr/>
          <p:nvPr/>
        </p:nvSpPr>
        <p:spPr>
          <a:xfrm>
            <a:off x="10735056" y="2148840"/>
            <a:ext cx="4636008" cy="2743200"/>
          </a:xfrm>
          <a:prstGeom prst="roundRect">
            <a:avLst>
              <a:gd name="adj" fmla="val 5000"/>
            </a:avLst>
          </a:prstGeom>
          <a:solidFill>
            <a:srgbClr val="2F6DB5">
              <a:alpha val="10000"/>
            </a:srgbClr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16" name="Q3 circle"/>
          <p:cNvSpPr/>
          <p:nvPr/>
        </p:nvSpPr>
        <p:spPr>
          <a:xfrm>
            <a:off x="11055096" y="2468880"/>
            <a:ext cx="868680" cy="86868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pic>
        <p:nvPicPr>
          <p:cNvPr id="17" name="Q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6206" y="2659990"/>
            <a:ext cx="486461" cy="48646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2106656" y="2606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2400" b="1" dirty="0">
                <a:solidFill>
                  <a:srgbClr val="2F6DB5"/>
                </a:solidFill>
              </a:rPr>
              <a:t>Q3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11055096" y="3474720"/>
            <a:ext cx="3995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900" b="1" dirty="0">
                <a:solidFill>
                  <a:srgbClr val="1B2A41"/>
                </a:solidFill>
              </a:rPr>
              <a:t>What is efficient computation?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11055096" y="4297680"/>
            <a:ext cx="3995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500" dirty="0">
                <a:solidFill>
                  <a:srgbClr val="33404F"/>
                </a:solidFill>
              </a:rPr>
              <a:t>Lessons 5–7: time, memory, hashing</a:t>
            </a:r>
            <a:endParaRPr lang="en-US" sz="1500" dirty="0"/>
          </a:p>
        </p:txBody>
      </p:sp>
      <p:sp>
        <p:nvSpPr>
          <p:cNvPr id="21" name="Q4 card"/>
          <p:cNvSpPr/>
          <p:nvPr/>
        </p:nvSpPr>
        <p:spPr>
          <a:xfrm>
            <a:off x="731520" y="5257800"/>
            <a:ext cx="4636008" cy="2743200"/>
          </a:xfrm>
          <a:prstGeom prst="roundRect">
            <a:avLst>
              <a:gd name="adj" fmla="val 5000"/>
            </a:avLst>
          </a:prstGeom>
          <a:solidFill>
            <a:srgbClr val="C2452D">
              <a:alpha val="10000"/>
            </a:srgbClr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22" name="Q4 circle"/>
          <p:cNvSpPr/>
          <p:nvPr/>
        </p:nvSpPr>
        <p:spPr>
          <a:xfrm>
            <a:off x="1051560" y="5577840"/>
            <a:ext cx="868680" cy="868680"/>
          </a:xfrm>
          <a:prstGeom prst="ellipse">
            <a:avLst/>
          </a:prstGeom>
          <a:solidFill>
            <a:srgbClr val="C2452D"/>
          </a:solidFill>
          <a:ln w="12700">
            <a:solidFill>
              <a:srgbClr val="C2452D"/>
            </a:solidFill>
            <a:prstDash val="solid"/>
          </a:ln>
        </p:spPr>
      </p:sp>
      <p:pic>
        <p:nvPicPr>
          <p:cNvPr id="23" name="Q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2670" y="5768950"/>
            <a:ext cx="486461" cy="486461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2103120" y="5715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2400" b="1" dirty="0">
                <a:solidFill>
                  <a:srgbClr val="C2452D"/>
                </a:solidFill>
              </a:rPr>
              <a:t>Q4</a:t>
            </a:r>
            <a:endParaRPr lang="en-US" sz="2400" dirty="0"/>
          </a:p>
        </p:txBody>
      </p:sp>
      <p:sp>
        <p:nvSpPr>
          <p:cNvPr id="25" name="Text 19"/>
          <p:cNvSpPr txBox="1"/>
          <p:nvPr/>
        </p:nvSpPr>
        <p:spPr>
          <a:xfrm>
            <a:off x="1051560" y="6583680"/>
            <a:ext cx="3995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900" b="1" dirty="0">
                <a:solidFill>
                  <a:srgbClr val="1B2A41"/>
                </a:solidFill>
              </a:rPr>
              <a:t>What are the limits of computation?</a:t>
            </a:r>
            <a:endParaRPr lang="en-US" sz="1900" dirty="0"/>
          </a:p>
        </p:txBody>
      </p:sp>
      <p:sp>
        <p:nvSpPr>
          <p:cNvPr id="26" name="Text 20"/>
          <p:cNvSpPr txBox="1"/>
          <p:nvPr/>
        </p:nvSpPr>
        <p:spPr>
          <a:xfrm>
            <a:off x="1051560" y="7406640"/>
            <a:ext cx="3995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500" dirty="0">
                <a:solidFill>
                  <a:srgbClr val="33404F"/>
                </a:solidFill>
              </a:rPr>
              <a:t>Lesson 13: unsolvable vs. intractable</a:t>
            </a:r>
            <a:endParaRPr lang="en-US" sz="1500" dirty="0"/>
          </a:p>
        </p:txBody>
      </p:sp>
      <p:sp>
        <p:nvSpPr>
          <p:cNvPr id="27" name="Q5 card"/>
          <p:cNvSpPr/>
          <p:nvPr/>
        </p:nvSpPr>
        <p:spPr>
          <a:xfrm>
            <a:off x="5733288" y="5257800"/>
            <a:ext cx="4636008" cy="2743200"/>
          </a:xfrm>
          <a:prstGeom prst="roundRect">
            <a:avLst>
              <a:gd name="adj" fmla="val 5000"/>
            </a:avLst>
          </a:prstGeom>
          <a:solidFill>
            <a:srgbClr val="D98A1F">
              <a:alpha val="10000"/>
            </a:srgbClr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28" name="Q5 circle"/>
          <p:cNvSpPr/>
          <p:nvPr/>
        </p:nvSpPr>
        <p:spPr>
          <a:xfrm>
            <a:off x="6053328" y="5577840"/>
            <a:ext cx="868680" cy="868680"/>
          </a:xfrm>
          <a:prstGeom prst="ellipse">
            <a:avLst/>
          </a:prstGeom>
          <a:solidFill>
            <a:srgbClr val="D98A1F"/>
          </a:solidFill>
          <a:ln w="12700">
            <a:solidFill>
              <a:srgbClr val="D98A1F"/>
            </a:solidFill>
            <a:prstDash val="solid"/>
          </a:ln>
        </p:spPr>
      </p:sp>
      <p:pic>
        <p:nvPicPr>
          <p:cNvPr id="29" name="Q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4438" y="5768950"/>
            <a:ext cx="486461" cy="486461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104888" y="5715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2400" b="1" dirty="0">
                <a:solidFill>
                  <a:srgbClr val="D98A1F"/>
                </a:solidFill>
              </a:rPr>
              <a:t>Q5</a:t>
            </a:r>
            <a:endParaRPr lang="en-US" sz="2400" dirty="0"/>
          </a:p>
        </p:txBody>
      </p:sp>
      <p:sp>
        <p:nvSpPr>
          <p:cNvPr id="31" name="Text 24"/>
          <p:cNvSpPr txBox="1"/>
          <p:nvPr/>
        </p:nvSpPr>
        <p:spPr>
          <a:xfrm>
            <a:off x="6053328" y="6583680"/>
            <a:ext cx="3995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900" b="1" dirty="0">
                <a:solidFill>
                  <a:srgbClr val="1B2A41"/>
                </a:solidFill>
              </a:rPr>
              <a:t>How do we use AI tools correctly in computational biology?</a:t>
            </a:r>
            <a:endParaRPr lang="en-US" sz="1900" dirty="0"/>
          </a:p>
        </p:txBody>
      </p:sp>
      <p:sp>
        <p:nvSpPr>
          <p:cNvPr id="32" name="Text 25"/>
          <p:cNvSpPr txBox="1"/>
          <p:nvPr/>
        </p:nvSpPr>
        <p:spPr>
          <a:xfrm>
            <a:off x="6053328" y="7406640"/>
            <a:ext cx="3995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500" dirty="0">
                <a:solidFill>
                  <a:srgbClr val="33404F"/>
                </a:solidFill>
              </a:rPr>
              <a:t>Lessons 10–12, HW 5: code review</a:t>
            </a:r>
            <a:endParaRPr lang="en-US" sz="1500" dirty="0"/>
          </a:p>
        </p:txBody>
      </p:sp>
      <p:sp>
        <p:nvSpPr>
          <p:cNvPr id="33" name="Q6 card"/>
          <p:cNvSpPr/>
          <p:nvPr/>
        </p:nvSpPr>
        <p:spPr>
          <a:xfrm>
            <a:off x="10735056" y="5257800"/>
            <a:ext cx="4636008" cy="2743200"/>
          </a:xfrm>
          <a:prstGeom prst="roundRect">
            <a:avLst>
              <a:gd name="adj" fmla="val 5000"/>
            </a:avLst>
          </a:prstGeom>
          <a:solidFill>
            <a:srgbClr val="6C5BA8">
              <a:alpha val="10000"/>
            </a:srgbClr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34" name="Q6 circle"/>
          <p:cNvSpPr/>
          <p:nvPr/>
        </p:nvSpPr>
        <p:spPr>
          <a:xfrm>
            <a:off x="11055096" y="5577840"/>
            <a:ext cx="868680" cy="868680"/>
          </a:xfrm>
          <a:prstGeom prst="ellipse">
            <a:avLst/>
          </a:prstGeom>
          <a:solidFill>
            <a:srgbClr val="6C5BA8"/>
          </a:solidFill>
          <a:ln w="12700">
            <a:solidFill>
              <a:srgbClr val="6C5BA8"/>
            </a:solidFill>
            <a:prstDash val="solid"/>
          </a:ln>
        </p:spPr>
      </p:sp>
      <p:pic>
        <p:nvPicPr>
          <p:cNvPr id="35" name="Q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46206" y="5768950"/>
            <a:ext cx="486461" cy="486461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2106656" y="5715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2400" b="1" dirty="0">
                <a:solidFill>
                  <a:srgbClr val="6C5BA8"/>
                </a:solidFill>
              </a:rPr>
              <a:t>Q6</a:t>
            </a:r>
            <a:endParaRPr lang="en-US" sz="2400" dirty="0"/>
          </a:p>
        </p:txBody>
      </p:sp>
      <p:sp>
        <p:nvSpPr>
          <p:cNvPr id="37" name="Text 29"/>
          <p:cNvSpPr txBox="1"/>
          <p:nvPr/>
        </p:nvSpPr>
        <p:spPr>
          <a:xfrm>
            <a:off x="11055096" y="6583680"/>
            <a:ext cx="3995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900" b="1" dirty="0">
                <a:solidFill>
                  <a:srgbClr val="1B2A41"/>
                </a:solidFill>
              </a:rPr>
              <a:t>Does AI change the limits of computation?</a:t>
            </a:r>
            <a:endParaRPr lang="en-US" sz="1900" dirty="0"/>
          </a:p>
        </p:txBody>
      </p:sp>
      <p:sp>
        <p:nvSpPr>
          <p:cNvPr id="38" name="Text 30"/>
          <p:cNvSpPr txBox="1"/>
          <p:nvPr/>
        </p:nvSpPr>
        <p:spPr>
          <a:xfrm>
            <a:off x="11055096" y="7406640"/>
            <a:ext cx="3995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500" dirty="0">
                <a:solidFill>
                  <a:srgbClr val="33404F"/>
                </a:solidFill>
              </a:rPr>
              <a:t>Lesson 13: computation today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4813280" y="8549640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33404F"/>
                </a:solidFill>
              </a:defRPr>
            </a:lvl1pPr>
          </a:lstStyle>
          <a:p>
            <a:pPr rtl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otebookLM slide image1.png" descr="/tmp/claude-0/-home-claude/725bf24d-e770-505f-aea1-2bb55cbdbd30/scratchpad/orig/x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30"/>
            <a:ext cx="16256020" cy="90678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otebookLM slide image2.png" descr="/tmp/claude-0/-home-claude/725bf24d-e770-505f-aea1-2bb55cbdbd30/scratchpad/orig/x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30"/>
            <a:ext cx="16256020" cy="90678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otebookLM slide image3.png" descr="/tmp/claude-0/-home-claude/725bf24d-e770-505f-aea1-2bb55cbdbd30/scratchpad/orig/x/ppt/media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30"/>
            <a:ext cx="16256020" cy="90678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 tag"/>
          <p:cNvSpPr/>
          <p:nvPr/>
        </p:nvSpPr>
        <p:spPr>
          <a:xfrm>
            <a:off x="731520" y="347472"/>
            <a:ext cx="4462272" cy="420624"/>
          </a:xfrm>
          <a:prstGeom prst="roundRect">
            <a:avLst>
              <a:gd name="adj" fmla="val 50000"/>
            </a:avLst>
          </a:prstGeom>
          <a:solidFill>
            <a:srgbClr val="4E9A4B"/>
          </a:solidFill>
          <a:ln w="12700">
            <a:solidFill>
              <a:srgbClr val="4E9A4B"/>
            </a:solidFill>
            <a:prstDash val="solid"/>
          </a:ln>
        </p:spPr>
      </p:sp>
      <p:pic>
        <p:nvPicPr>
          <p:cNvPr id="3" name="question tag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411480"/>
            <a:ext cx="292608" cy="292608"/>
          </a:xfrm>
          <a:prstGeom prst="rect">
            <a:avLst/>
          </a:prstGeom>
        </p:spPr>
      </p:pic>
      <p:sp>
        <p:nvSpPr>
          <p:cNvPr id="4" name="question tag text"/>
          <p:cNvSpPr txBox="1"/>
          <p:nvPr/>
        </p:nvSpPr>
        <p:spPr>
          <a:xfrm>
            <a:off x="1234440" y="347472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rtl="0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Q1  ·  Why does computation matter?</a:t>
            </a:r>
            <a:endParaRPr lang="en-US" sz="15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868680"/>
            <a:ext cx="1481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3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now produces more data than people can read</a:t>
            </a:r>
            <a:endParaRPr lang="en-US" sz="3800" dirty="0"/>
          </a:p>
        </p:txBody>
      </p:sp>
      <p:sp>
        <p:nvSpPr>
          <p:cNvPr id="6" name="stat card"/>
          <p:cNvSpPr/>
          <p:nvPr/>
        </p:nvSpPr>
        <p:spPr>
          <a:xfrm>
            <a:off x="731520" y="2194560"/>
            <a:ext cx="4636008" cy="3291840"/>
          </a:xfrm>
          <a:prstGeom prst="roundRect">
            <a:avLst>
              <a:gd name="adj" fmla="val 4167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56032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4200" b="1" dirty="0">
                <a:solidFill>
                  <a:srgbClr val="4E9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 billion</a:t>
            </a:r>
            <a:endParaRPr lang="en-US" sz="42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9776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900" dirty="0">
                <a:solidFill>
                  <a:srgbClr val="1B2A41"/>
                </a:solidFill>
              </a:rPr>
              <a:t>letters (A, C, G, T) in one human genome</a:t>
            </a:r>
            <a:endParaRPr lang="en-US" sz="1900" dirty="0"/>
          </a:p>
        </p:txBody>
      </p:sp>
      <p:sp>
        <p:nvSpPr>
          <p:cNvPr id="9" name="stat card"/>
          <p:cNvSpPr/>
          <p:nvPr/>
        </p:nvSpPr>
        <p:spPr>
          <a:xfrm>
            <a:off x="5733288" y="2194560"/>
            <a:ext cx="4636008" cy="3291840"/>
          </a:xfrm>
          <a:prstGeom prst="roundRect">
            <a:avLst>
              <a:gd name="adj" fmla="val 4167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099048" y="256032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4200" b="1" dirty="0">
                <a:solidFill>
                  <a:srgbClr val="4E9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100,000×</a:t>
            </a:r>
            <a:endParaRPr lang="en-US" sz="4200" dirty="0"/>
          </a:p>
        </p:txBody>
      </p:sp>
      <p:sp>
        <p:nvSpPr>
          <p:cNvPr id="11" name="Text 8"/>
          <p:cNvSpPr txBox="1"/>
          <p:nvPr/>
        </p:nvSpPr>
        <p:spPr>
          <a:xfrm>
            <a:off x="6099048" y="39776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900" dirty="0">
                <a:solidFill>
                  <a:srgbClr val="1B2A41"/>
                </a:solidFill>
              </a:rPr>
              <a:t>cheaper to sequence a human genome than in 2001: $100M then, a few hundred dollars now</a:t>
            </a:r>
            <a:endParaRPr lang="en-US" sz="1900" dirty="0"/>
          </a:p>
        </p:txBody>
      </p:sp>
      <p:sp>
        <p:nvSpPr>
          <p:cNvPr id="12" name="stat card"/>
          <p:cNvSpPr/>
          <p:nvPr/>
        </p:nvSpPr>
        <p:spPr>
          <a:xfrm>
            <a:off x="10735056" y="2194560"/>
            <a:ext cx="4636008" cy="3291840"/>
          </a:xfrm>
          <a:prstGeom prst="roundRect">
            <a:avLst>
              <a:gd name="adj" fmla="val 4167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1100816" y="256032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4200" b="1" dirty="0">
                <a:solidFill>
                  <a:srgbClr val="4E9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million+</a:t>
            </a:r>
            <a:endParaRPr lang="en-US" sz="4200" dirty="0"/>
          </a:p>
        </p:txBody>
      </p:sp>
      <p:sp>
        <p:nvSpPr>
          <p:cNvPr id="14" name="Text 11"/>
          <p:cNvSpPr txBox="1"/>
          <p:nvPr/>
        </p:nvSpPr>
        <p:spPr>
          <a:xfrm>
            <a:off x="11100816" y="39776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900" dirty="0">
                <a:solidFill>
                  <a:srgbClr val="1B2A41"/>
                </a:solidFill>
              </a:rPr>
              <a:t>predicted protein structures in the AlphaFold database</a:t>
            </a:r>
            <a:endParaRPr lang="en-US" sz="1900" dirty="0"/>
          </a:p>
        </p:txBody>
      </p:sp>
      <p:sp>
        <p:nvSpPr>
          <p:cNvPr id="15" name="takeaway card"/>
          <p:cNvSpPr/>
          <p:nvPr/>
        </p:nvSpPr>
        <p:spPr>
          <a:xfrm>
            <a:off x="731520" y="5897880"/>
            <a:ext cx="14813280" cy="1600200"/>
          </a:xfrm>
          <a:prstGeom prst="roundRect">
            <a:avLst>
              <a:gd name="adj" fmla="val 8571"/>
            </a:avLst>
          </a:prstGeom>
          <a:solidFill>
            <a:srgbClr val="4E9A4B">
              <a:alpha val="12000"/>
            </a:srgbClr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97280" y="6126480"/>
            <a:ext cx="1408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2000" b="1" dirty="0">
                <a:solidFill>
                  <a:srgbClr val="1B2A41"/>
                </a:solidFill>
              </a:rPr>
              <a:t>Reading one genome aloud, one letter per second, day and night, would take about 100 years. </a:t>
            </a:r>
            <a:pPr rtl="0" algn="l" indent="0" marL="0">
              <a:buNone/>
            </a:pPr>
            <a:r>
              <a:rPr lang="en-US" sz="2000" dirty="0">
                <a:solidFill>
                  <a:srgbClr val="1B2A41"/>
                </a:solidFill>
              </a:rPr>
              <a:t>A short Python loop does it in seconds. The question is no longer whether to compute, but how to think about the computation.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7818120"/>
            <a:ext cx="1481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400" dirty="0">
                <a:solidFill>
                  <a:srgbClr val="33404F"/>
                </a:solidFill>
              </a:rPr>
              <a:t>Sources: NHGRI, “The Cost of Sequencing a Human Genome”; EMBL-EBI AlphaFold Protein Structure Database.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4813280" y="8549640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33404F"/>
                </a:solidFill>
              </a:defRPr>
            </a:lvl1pPr>
          </a:lstStyle>
          <a:p>
            <a:pPr rtl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 tag"/>
          <p:cNvSpPr/>
          <p:nvPr/>
        </p:nvSpPr>
        <p:spPr>
          <a:xfrm>
            <a:off x="731520" y="347472"/>
            <a:ext cx="3599078" cy="420624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3" name="question tag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411480"/>
            <a:ext cx="292608" cy="292608"/>
          </a:xfrm>
          <a:prstGeom prst="rect">
            <a:avLst/>
          </a:prstGeom>
        </p:spPr>
      </p:pic>
      <p:sp>
        <p:nvSpPr>
          <p:cNvPr id="4" name="question tag text"/>
          <p:cNvSpPr txBox="1"/>
          <p:nvPr/>
        </p:nvSpPr>
        <p:spPr>
          <a:xfrm>
            <a:off x="1234440" y="347472"/>
            <a:ext cx="305043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rtl="0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Q2  ·  What is computation?</a:t>
            </a:r>
            <a:endParaRPr lang="en-US" sz="15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868680"/>
            <a:ext cx="1481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3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computation? Problem → algorithm → program</a:t>
            </a:r>
            <a:endParaRPr lang="en-US" sz="3800" dirty="0"/>
          </a:p>
        </p:txBody>
      </p:sp>
      <p:sp>
        <p:nvSpPr>
          <p:cNvPr id="6" name="Problem card"/>
          <p:cNvSpPr/>
          <p:nvPr/>
        </p:nvSpPr>
        <p:spPr>
          <a:xfrm>
            <a:off x="731520" y="2103120"/>
            <a:ext cx="6949440" cy="1783080"/>
          </a:xfrm>
          <a:prstGeom prst="roundRect">
            <a:avLst>
              <a:gd name="adj" fmla="val 7692"/>
            </a:avLst>
          </a:prstGeom>
          <a:solidFill>
            <a:srgbClr val="0E7C7B">
              <a:alpha val="12000"/>
            </a:srgbClr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51560" y="2331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2400" b="1" dirty="0">
                <a:solidFill>
                  <a:srgbClr val="0E7C7B"/>
                </a:solidFill>
              </a:rPr>
              <a:t>Problem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3383280" y="2377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500" i="1" dirty="0">
                <a:solidFill>
                  <a:srgbClr val="33404F"/>
                </a:solidFill>
              </a:rPr>
              <a:t>WHAT we want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292608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800" dirty="0">
                <a:solidFill>
                  <a:srgbClr val="1B2A41"/>
                </a:solidFill>
              </a:rPr>
              <a:t>Input: a DNA sequence.</a:t>
            </a:r>
            <a:endParaRPr lang="en-US" sz="1800" dirty="0"/>
          </a:p>
          <a:p>
            <a:pPr rtl="0" algn="l" indent="0" marL="0">
              <a:buNone/>
            </a:pPr>
            <a:r>
              <a:rPr lang="en-US" sz="1800" dirty="0">
                <a:solidFill>
                  <a:srgbClr val="1B2A41"/>
                </a:solidFill>
              </a:rPr>
              <a:t>Output: its GC content, in %.</a:t>
            </a:r>
            <a:endParaRPr lang="en-US" sz="1800" dirty="0"/>
          </a:p>
        </p:txBody>
      </p:sp>
      <p:sp>
        <p:nvSpPr>
          <p:cNvPr id="10" name="arrow"/>
          <p:cNvSpPr/>
          <p:nvPr/>
        </p:nvSpPr>
        <p:spPr>
          <a:xfrm>
            <a:off x="3977640" y="3904488"/>
            <a:ext cx="457200" cy="237744"/>
          </a:xfrm>
          <a:prstGeom prst="downArrow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Algorithm card"/>
          <p:cNvSpPr/>
          <p:nvPr/>
        </p:nvSpPr>
        <p:spPr>
          <a:xfrm>
            <a:off x="731520" y="4160520"/>
            <a:ext cx="6949440" cy="1783080"/>
          </a:xfrm>
          <a:prstGeom prst="roundRect">
            <a:avLst>
              <a:gd name="adj" fmla="val 7692"/>
            </a:avLst>
          </a:prstGeom>
          <a:solidFill>
            <a:srgbClr val="0E7C7B">
              <a:alpha val="12000"/>
            </a:srgbClr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51560" y="4389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2400" b="1" dirty="0">
                <a:solidFill>
                  <a:srgbClr val="0E7C7B"/>
                </a:solidFill>
              </a:rPr>
              <a:t>Algorithm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3383280" y="4434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500" i="1" dirty="0">
                <a:solidFill>
                  <a:srgbClr val="33404F"/>
                </a:solidFill>
              </a:rPr>
              <a:t>HOW, step by step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051560" y="498348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800" dirty="0">
                <a:solidFill>
                  <a:srgbClr val="1B2A41"/>
                </a:solidFill>
              </a:rPr>
              <a:t>Go over the letters, count G and C, divide by the length.</a:t>
            </a:r>
            <a:endParaRPr lang="en-US" sz="1800" dirty="0"/>
          </a:p>
        </p:txBody>
      </p:sp>
      <p:sp>
        <p:nvSpPr>
          <p:cNvPr id="15" name="arrow"/>
          <p:cNvSpPr/>
          <p:nvPr/>
        </p:nvSpPr>
        <p:spPr>
          <a:xfrm>
            <a:off x="3977640" y="5961888"/>
            <a:ext cx="457200" cy="237744"/>
          </a:xfrm>
          <a:prstGeom prst="downArrow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Program card"/>
          <p:cNvSpPr/>
          <p:nvPr/>
        </p:nvSpPr>
        <p:spPr>
          <a:xfrm>
            <a:off x="731520" y="6217920"/>
            <a:ext cx="6949440" cy="1783080"/>
          </a:xfrm>
          <a:prstGeom prst="roundRect">
            <a:avLst>
              <a:gd name="adj" fmla="val 7692"/>
            </a:avLst>
          </a:prstGeom>
          <a:solidFill>
            <a:srgbClr val="0E7C7B">
              <a:alpha val="12000"/>
            </a:srgbClr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51560" y="6446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2400" b="1" dirty="0">
                <a:solidFill>
                  <a:srgbClr val="0E7C7B"/>
                </a:solidFill>
              </a:rPr>
              <a:t>Program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3383280" y="6492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500" i="1" dirty="0">
                <a:solidFill>
                  <a:srgbClr val="33404F"/>
                </a:solidFill>
              </a:rPr>
              <a:t>The algorithm, in a language a computer runs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051560" y="704088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800" dirty="0">
                <a:solidFill>
                  <a:srgbClr val="1B2A41"/>
                </a:solidFill>
              </a:rPr>
              <a:t>Python code (right).</a:t>
            </a:r>
            <a:endParaRPr lang="en-US" sz="1800" dirty="0"/>
          </a:p>
        </p:txBody>
      </p:sp>
      <p:sp>
        <p:nvSpPr>
          <p:cNvPr id="20" name="GC content code background"/>
          <p:cNvSpPr/>
          <p:nvPr/>
        </p:nvSpPr>
        <p:spPr>
          <a:xfrm>
            <a:off x="8229600" y="2103120"/>
            <a:ext cx="7315200" cy="5897880"/>
          </a:xfrm>
          <a:prstGeom prst="roundRect">
            <a:avLst>
              <a:gd name="adj" fmla="val 2326"/>
            </a:avLst>
          </a:prstGeom>
          <a:solidFill>
            <a:srgbClr val="1B2A41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21" name="GC content code"/>
          <p:cNvSpPr txBox="1"/>
          <p:nvPr/>
        </p:nvSpPr>
        <p:spPr>
          <a:xfrm>
            <a:off x="8549640" y="2377440"/>
            <a:ext cx="6675120" cy="5349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rtl="0"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gc_content(dna):</a:t>
            </a:r>
            <a:endParaRPr lang="en-US" sz="1700" dirty="0"/>
          </a:p>
          <a:p>
            <a:pPr algn="l" rtl="0"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"""%GC in dna (uppercase ACGT)"""</a:t>
            </a:r>
            <a:endParaRPr lang="en-US" sz="1700" dirty="0"/>
          </a:p>
          <a:p>
            <a:pPr algn="l" rtl="0"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gc = 0</a:t>
            </a:r>
            <a:endParaRPr lang="en-US" sz="1700" dirty="0"/>
          </a:p>
          <a:p>
            <a:pPr algn="l" rtl="0"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nuc in dna:</a:t>
            </a:r>
            <a:endParaRPr lang="en-US" sz="1700" dirty="0"/>
          </a:p>
          <a:p>
            <a:pPr algn="l" rtl="0"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nuc == "G" or nuc == "C":</a:t>
            </a:r>
            <a:endParaRPr lang="en-US" sz="1700" dirty="0"/>
          </a:p>
          <a:p>
            <a:pPr algn="l" rtl="0"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gc += 1</a:t>
            </a:r>
            <a:endParaRPr lang="en-US" sz="1700" dirty="0"/>
          </a:p>
          <a:p>
            <a:pPr algn="l" rtl="0"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100 * gc / len(dna)</a:t>
            </a:r>
            <a:endParaRPr lang="en-US" sz="1700" dirty="0"/>
          </a:p>
          <a:p>
            <a:pPr algn="l" rtl="0" indent="0" marL="0">
              <a:spcAft>
                <a:spcPts val="200"/>
              </a:spcAft>
              <a:buNone/>
            </a:pPr>
            <a:endParaRPr lang="en-US" sz="1700" dirty="0"/>
          </a:p>
          <a:p>
            <a:pPr algn="l" rtl="0"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 = "TTAGACCAGTAGAAGTAC"</a:t>
            </a:r>
            <a:endParaRPr lang="en-US" sz="1700" dirty="0"/>
          </a:p>
          <a:p>
            <a:pPr algn="l" rtl="0"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print(gc_content(seq))   # 33.33...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4813280" y="8549640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33404F"/>
                </a:solidFill>
              </a:defRPr>
            </a:lvl1pPr>
          </a:lstStyle>
          <a:p>
            <a:pPr rtl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 tag"/>
          <p:cNvSpPr/>
          <p:nvPr/>
        </p:nvSpPr>
        <p:spPr>
          <a:xfrm>
            <a:off x="731520" y="347472"/>
            <a:ext cx="3599078" cy="420624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3" name="question tag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411480"/>
            <a:ext cx="292608" cy="292608"/>
          </a:xfrm>
          <a:prstGeom prst="rect">
            <a:avLst/>
          </a:prstGeom>
        </p:spPr>
      </p:pic>
      <p:sp>
        <p:nvSpPr>
          <p:cNvPr id="4" name="question tag text"/>
          <p:cNvSpPr txBox="1"/>
          <p:nvPr/>
        </p:nvSpPr>
        <p:spPr>
          <a:xfrm>
            <a:off x="1234440" y="347472"/>
            <a:ext cx="305043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rtl="0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Q2  ·  What is computation?</a:t>
            </a:r>
            <a:endParaRPr lang="en-US" sz="15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868680"/>
            <a:ext cx="1481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3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is a recipe an algorithm?</a:t>
            </a:r>
            <a:endParaRPr lang="en-US" sz="3800" dirty="0"/>
          </a:p>
        </p:txBody>
      </p:sp>
      <p:sp>
        <p:nvSpPr>
          <p:cNvPr id="6" name="Precise card"/>
          <p:cNvSpPr/>
          <p:nvPr/>
        </p:nvSpPr>
        <p:spPr>
          <a:xfrm>
            <a:off x="731520" y="2148840"/>
            <a:ext cx="3383280" cy="3246120"/>
          </a:xfrm>
          <a:prstGeom prst="roundRect">
            <a:avLst>
              <a:gd name="adj" fmla="val 4225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51560" y="2377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40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3154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2400" b="1" dirty="0">
                <a:solidFill>
                  <a:srgbClr val="1B2A41"/>
                </a:solidFill>
              </a:rPr>
              <a:t>Precise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374904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700" dirty="0">
                <a:solidFill>
                  <a:srgbClr val="1B2A41"/>
                </a:solidFill>
              </a:rPr>
              <a:t>Every step is unambiguous. “Count the G’s” — not “look for G-rich regions”.</a:t>
            </a:r>
            <a:endParaRPr lang="en-US" sz="1700" dirty="0"/>
          </a:p>
        </p:txBody>
      </p:sp>
      <p:sp>
        <p:nvSpPr>
          <p:cNvPr id="10" name="Finite card"/>
          <p:cNvSpPr/>
          <p:nvPr/>
        </p:nvSpPr>
        <p:spPr>
          <a:xfrm>
            <a:off x="4480560" y="2148840"/>
            <a:ext cx="3383280" cy="3246120"/>
          </a:xfrm>
          <a:prstGeom prst="roundRect">
            <a:avLst>
              <a:gd name="adj" fmla="val 4225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00600" y="2377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40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4800600" y="3154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2400" b="1" dirty="0">
                <a:solidFill>
                  <a:srgbClr val="1B2A41"/>
                </a:solidFill>
              </a:rPr>
              <a:t>Finite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4800600" y="374904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700" dirty="0">
                <a:solidFill>
                  <a:srgbClr val="1B2A41"/>
                </a:solidFill>
              </a:rPr>
              <a:t>It always stops, after a finite number of steps.</a:t>
            </a:r>
            <a:endParaRPr lang="en-US" sz="1700" dirty="0"/>
          </a:p>
        </p:txBody>
      </p:sp>
      <p:sp>
        <p:nvSpPr>
          <p:cNvPr id="14" name="General card"/>
          <p:cNvSpPr/>
          <p:nvPr/>
        </p:nvSpPr>
        <p:spPr>
          <a:xfrm>
            <a:off x="8229600" y="2148840"/>
            <a:ext cx="3383280" cy="3246120"/>
          </a:xfrm>
          <a:prstGeom prst="roundRect">
            <a:avLst>
              <a:gd name="adj" fmla="val 4225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549640" y="2377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40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8549640" y="3154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2400" b="1" dirty="0">
                <a:solidFill>
                  <a:srgbClr val="1B2A41"/>
                </a:solidFill>
              </a:rPr>
              <a:t>General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8549640" y="374904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700" dirty="0">
                <a:solidFill>
                  <a:srgbClr val="1B2A41"/>
                </a:solidFill>
              </a:rPr>
              <a:t>It works for every valid input — not just for today’s sequence.</a:t>
            </a:r>
            <a:endParaRPr lang="en-US" sz="1700" dirty="0"/>
          </a:p>
        </p:txBody>
      </p:sp>
      <p:sp>
        <p:nvSpPr>
          <p:cNvPr id="18" name="Correct card"/>
          <p:cNvSpPr/>
          <p:nvPr/>
        </p:nvSpPr>
        <p:spPr>
          <a:xfrm>
            <a:off x="11978640" y="2148840"/>
            <a:ext cx="3383280" cy="3246120"/>
          </a:xfrm>
          <a:prstGeom prst="roundRect">
            <a:avLst>
              <a:gd name="adj" fmla="val 4225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2298680" y="2377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40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20" name="Text 17"/>
          <p:cNvSpPr txBox="1"/>
          <p:nvPr/>
        </p:nvSpPr>
        <p:spPr>
          <a:xfrm>
            <a:off x="12298680" y="3154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2400" b="1" dirty="0">
                <a:solidFill>
                  <a:srgbClr val="1B2A41"/>
                </a:solidFill>
              </a:rPr>
              <a:t>Correct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12298680" y="374904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700" dirty="0">
                <a:solidFill>
                  <a:srgbClr val="1B2A41"/>
                </a:solidFill>
              </a:rPr>
              <a:t>The output matches the specification — and we check it with tests.</a:t>
            </a:r>
            <a:endParaRPr lang="en-US" sz="1700" dirty="0"/>
          </a:p>
        </p:txBody>
      </p:sp>
      <p:sp>
        <p:nvSpPr>
          <p:cNvPr id="22" name="test code background"/>
          <p:cNvSpPr/>
          <p:nvPr/>
        </p:nvSpPr>
        <p:spPr>
          <a:xfrm>
            <a:off x="731520" y="5760720"/>
            <a:ext cx="7863840" cy="1737360"/>
          </a:xfrm>
          <a:prstGeom prst="roundRect">
            <a:avLst>
              <a:gd name="adj" fmla="val 7895"/>
            </a:avLst>
          </a:prstGeom>
          <a:solidFill>
            <a:srgbClr val="1B2A41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23" name="test code"/>
          <p:cNvSpPr txBox="1"/>
          <p:nvPr/>
        </p:nvSpPr>
        <p:spPr>
          <a:xfrm>
            <a:off x="1051560" y="6035040"/>
            <a:ext cx="7223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rtl="0"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gc_content("GGCC") == 100</a:t>
            </a:r>
            <a:endParaRPr lang="en-US" sz="1700" dirty="0"/>
          </a:p>
          <a:p>
            <a:pPr algn="l" rtl="0"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gc_content("ATAT") == 0</a:t>
            </a:r>
            <a:endParaRPr lang="en-US" sz="1700" dirty="0"/>
          </a:p>
          <a:p>
            <a:pPr algn="l" rtl="0"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gc_content("")    # ZeroDivisionError!</a:t>
            </a:r>
            <a:endParaRPr lang="en-US" sz="1700" dirty="0"/>
          </a:p>
        </p:txBody>
      </p:sp>
      <p:pic>
        <p:nvPicPr>
          <p:cNvPr id="24" name="warning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5897880"/>
            <a:ext cx="502920" cy="50292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9738360" y="5852160"/>
            <a:ext cx="5806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700" b="1" dirty="0">
                <a:solidFill>
                  <a:srgbClr val="1B2A41"/>
                </a:solidFill>
              </a:rPr>
              <a:t>An edge case the recipe forgot. </a:t>
            </a:r>
            <a:pPr rtl="0" algn="l" indent="0" marL="0">
              <a:buNone/>
            </a:pPr>
            <a:r>
              <a:rPr lang="en-US" sz="1700" dirty="0">
                <a:solidFill>
                  <a:srgbClr val="1B2A41"/>
                </a:solidFill>
              </a:rPr>
              <a:t>Is GC content even defined for an empty sequence? Deciding that is part of specifying the problem — and it is exactly where hidden assumptions (yours or an AI’s) live.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4813280" y="8549640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33404F"/>
                </a:solidFill>
              </a:defRPr>
            </a:lvl1pPr>
          </a:lstStyle>
          <a:p>
            <a:pPr rtl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 tag"/>
          <p:cNvSpPr/>
          <p:nvPr/>
        </p:nvSpPr>
        <p:spPr>
          <a:xfrm>
            <a:off x="731520" y="347472"/>
            <a:ext cx="4678070" cy="420624"/>
          </a:xfrm>
          <a:prstGeom prst="roundRect">
            <a:avLst>
              <a:gd name="adj" fmla="val 50000"/>
            </a:avLst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pic>
        <p:nvPicPr>
          <p:cNvPr id="3" name="question tag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411480"/>
            <a:ext cx="292608" cy="292608"/>
          </a:xfrm>
          <a:prstGeom prst="rect">
            <a:avLst/>
          </a:prstGeom>
        </p:spPr>
      </p:pic>
      <p:sp>
        <p:nvSpPr>
          <p:cNvPr id="4" name="question tag text"/>
          <p:cNvSpPr txBox="1"/>
          <p:nvPr/>
        </p:nvSpPr>
        <p:spPr>
          <a:xfrm>
            <a:off x="1234440" y="347472"/>
            <a:ext cx="412943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rtl="0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Q3  ·  What is efficient computation?</a:t>
            </a:r>
            <a:endParaRPr lang="en-US" sz="15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868680"/>
            <a:ext cx="1481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3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computation: same answer, very different cost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057400"/>
            <a:ext cx="1481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900" b="1" dirty="0">
                <a:solidFill>
                  <a:srgbClr val="1B2A41"/>
                </a:solidFill>
              </a:rPr>
              <a:t>Task: </a:t>
            </a:r>
            <a:pPr rtl="0" algn="l" indent="0" marL="0">
              <a:buNone/>
            </a:pPr>
            <a:r>
              <a:rPr lang="en-US" sz="1900" dirty="0">
                <a:solidFill>
                  <a:srgbClr val="1B2A41"/>
                </a:solidFill>
              </a:rPr>
              <a:t>does any 20-letter stretch appear twice in the human genome?  (n ≈ 3 × 10⁹ letters, computer ≈ 10⁹ simple steps per second)</a:t>
            </a:r>
            <a:endParaRPr lang="en-US" sz="1900" dirty="0"/>
          </a:p>
        </p:txBody>
      </p:sp>
      <p:sp>
        <p:nvSpPr>
          <p:cNvPr id="7" name="Naive card"/>
          <p:cNvSpPr/>
          <p:nvPr/>
        </p:nvSpPr>
        <p:spPr>
          <a:xfrm>
            <a:off x="731520" y="2880360"/>
            <a:ext cx="7223760" cy="4206240"/>
          </a:xfrm>
          <a:prstGeom prst="roundRect">
            <a:avLst>
              <a:gd name="adj" fmla="val 3261"/>
            </a:avLst>
          </a:prstGeom>
          <a:solidFill>
            <a:srgbClr val="C2452D">
              <a:alpha val="10000"/>
            </a:srgbClr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143000" y="3154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2600" b="1" dirty="0">
                <a:solidFill>
                  <a:srgbClr val="C2452D"/>
                </a:solidFill>
              </a:rPr>
              <a:t>Naive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37490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800" dirty="0">
                <a:solidFill>
                  <a:srgbClr val="1B2A41"/>
                </a:solidFill>
              </a:rPr>
              <a:t>Compare every position with every other position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4572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700" dirty="0">
                <a:solidFill>
                  <a:srgbClr val="33404F"/>
                </a:solidFill>
              </a:rPr>
              <a:t>≈ n² ≈ 9 × 10¹⁸ steps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512064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6000" b="1" dirty="0">
                <a:solidFill>
                  <a:srgbClr val="C24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285 years</a:t>
            </a:r>
            <a:endParaRPr lang="en-US" sz="6000" dirty="0"/>
          </a:p>
        </p:txBody>
      </p:sp>
      <p:sp>
        <p:nvSpPr>
          <p:cNvPr id="12" name="Hash table card"/>
          <p:cNvSpPr/>
          <p:nvPr/>
        </p:nvSpPr>
        <p:spPr>
          <a:xfrm>
            <a:off x="8321040" y="2880360"/>
            <a:ext cx="7223760" cy="4206240"/>
          </a:xfrm>
          <a:prstGeom prst="roundRect">
            <a:avLst>
              <a:gd name="adj" fmla="val 3261"/>
            </a:avLst>
          </a:prstGeom>
          <a:solidFill>
            <a:srgbClr val="4E9A4B">
              <a:alpha val="10000"/>
            </a:srgbClr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732520" y="3154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2600" b="1" dirty="0">
                <a:solidFill>
                  <a:srgbClr val="4E9A4B"/>
                </a:solidFill>
              </a:rPr>
              <a:t>Hash table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8732520" y="37490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800" dirty="0">
                <a:solidFill>
                  <a:srgbClr val="1B2A41"/>
                </a:solidFill>
              </a:rPr>
              <a:t>One pass: put each 20-letter stretch in a table, look up repeats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8732520" y="4572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700" dirty="0">
                <a:solidFill>
                  <a:srgbClr val="33404F"/>
                </a:solidFill>
              </a:rPr>
              <a:t>≈ n ≈ 3 × 10⁹ steps (× a small constant)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8732520" y="512064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6000" b="1" dirty="0">
                <a:solidFill>
                  <a:srgbClr val="4E9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seconds</a:t>
            </a:r>
            <a:endParaRPr lang="en-US" sz="60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7360920"/>
            <a:ext cx="1481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1900" b="1" dirty="0">
                <a:solidFill>
                  <a:srgbClr val="1B2A41"/>
                </a:solidFill>
              </a:rPr>
              <a:t>Both are correct. Only one is usable. Efficiency is about how the cost grows with the input — this is what “complexity” measures.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4813280" y="8549640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33404F"/>
                </a:solidFill>
              </a:defRPr>
            </a:lvl1pPr>
          </a:lstStyle>
          <a:p>
            <a:pPr rtl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 tag"/>
          <p:cNvSpPr/>
          <p:nvPr/>
        </p:nvSpPr>
        <p:spPr>
          <a:xfrm>
            <a:off x="731520" y="347472"/>
            <a:ext cx="4678070" cy="420624"/>
          </a:xfrm>
          <a:prstGeom prst="roundRect">
            <a:avLst>
              <a:gd name="adj" fmla="val 50000"/>
            </a:avLst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pic>
        <p:nvPicPr>
          <p:cNvPr id="3" name="question tag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411480"/>
            <a:ext cx="292608" cy="292608"/>
          </a:xfrm>
          <a:prstGeom prst="rect">
            <a:avLst/>
          </a:prstGeom>
        </p:spPr>
      </p:pic>
      <p:sp>
        <p:nvSpPr>
          <p:cNvPr id="4" name="question tag text"/>
          <p:cNvSpPr txBox="1"/>
          <p:nvPr/>
        </p:nvSpPr>
        <p:spPr>
          <a:xfrm>
            <a:off x="1234440" y="347472"/>
            <a:ext cx="412943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rtl="0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Q3  ·  What is efficient computation?</a:t>
            </a:r>
            <a:endParaRPr lang="en-US" sz="15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868680"/>
            <a:ext cx="1481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3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means time and memory, as the input grows</a:t>
            </a:r>
            <a:endParaRPr lang="en-US" sz="3800" dirty="0"/>
          </a:p>
        </p:txBody>
      </p:sp>
      <p:graphicFrame>
        <p:nvGraphicFramePr>
          <p:cNvPr id="6" name="growth chart" descr=""/>
          <p:cNvGraphicFramePr/>
          <p:nvPr/>
        </p:nvGraphicFramePr>
        <p:xfrm>
          <a:off x="731520" y="2011680"/>
          <a:ext cx="8595360" cy="6126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memory card"/>
          <p:cNvSpPr/>
          <p:nvPr/>
        </p:nvSpPr>
        <p:spPr>
          <a:xfrm>
            <a:off x="9784080" y="2011680"/>
            <a:ext cx="5760720" cy="3794760"/>
          </a:xfrm>
          <a:prstGeom prst="roundRect">
            <a:avLst>
              <a:gd name="adj" fmla="val 3614"/>
            </a:avLst>
          </a:prstGeom>
          <a:solidFill>
            <a:srgbClr val="2F6DB5">
              <a:alpha val="10000"/>
            </a:srgbClr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10104120" y="22402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2100" b="1" dirty="0">
                <a:solidFill>
                  <a:srgbClr val="2F6DB5"/>
                </a:solidFill>
              </a:rPr>
              <a:t>Memory is a resource too</a:t>
            </a:r>
            <a:endParaRPr lang="en-US" sz="2100" dirty="0"/>
          </a:p>
        </p:txBody>
      </p:sp>
      <p:sp>
        <p:nvSpPr>
          <p:cNvPr id="9" name="Text 5"/>
          <p:cNvSpPr txBox="1"/>
          <p:nvPr/>
        </p:nvSpPr>
        <p:spPr>
          <a:xfrm>
            <a:off x="10104120" y="27889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700" dirty="0">
                <a:solidFill>
                  <a:srgbClr val="1B2A41"/>
                </a:solidFill>
              </a:rPr>
              <a:t>One microscope frame: 2048 × 2048 pixels, 16 bits = 8 MB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0104120" y="35661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700" dirty="0">
                <a:solidFill>
                  <a:srgbClr val="33404F"/>
                </a:solidFill>
              </a:rPr>
              <a:t>× 3 channels × 1,000 time points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10104120" y="406908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5400" b="1" dirty="0">
                <a:solidFill>
                  <a:srgbClr val="2F6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25 GB</a:t>
            </a:r>
            <a:endParaRPr lang="en-US" sz="5400" dirty="0"/>
          </a:p>
        </p:txBody>
      </p:sp>
      <p:sp>
        <p:nvSpPr>
          <p:cNvPr id="12" name="Text 8"/>
          <p:cNvSpPr txBox="1"/>
          <p:nvPr/>
        </p:nvSpPr>
        <p:spPr>
          <a:xfrm>
            <a:off x="10104120" y="51663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500" dirty="0">
                <a:solidFill>
                  <a:srgbClr val="33404F"/>
                </a:solidFill>
              </a:rPr>
              <a:t>— more than most laptops’ RAM (lesson 11)</a:t>
            </a:r>
            <a:endParaRPr lang="en-US" sz="1500" dirty="0"/>
          </a:p>
        </p:txBody>
      </p:sp>
      <p:sp>
        <p:nvSpPr>
          <p:cNvPr id="13" name="trade-off card"/>
          <p:cNvSpPr/>
          <p:nvPr/>
        </p:nvSpPr>
        <p:spPr>
          <a:xfrm>
            <a:off x="9784080" y="6080760"/>
            <a:ext cx="5760720" cy="2057400"/>
          </a:xfrm>
          <a:prstGeom prst="roundRect">
            <a:avLst>
              <a:gd name="adj" fmla="val 6667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0104120" y="6309360"/>
            <a:ext cx="5212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1700" b="1" dirty="0">
                <a:solidFill>
                  <a:srgbClr val="1B2A41"/>
                </a:solidFill>
              </a:rPr>
              <a:t>Trade-offs: </a:t>
            </a:r>
            <a:pPr rtl="0" algn="l" indent="0" marL="0">
              <a:buNone/>
            </a:pPr>
            <a:r>
              <a:rPr lang="en-US" sz="1700" dirty="0">
                <a:solidFill>
                  <a:srgbClr val="1B2A41"/>
                </a:solidFill>
              </a:rPr>
              <a:t>a hash table spends memory to save time. Choosing an algorithm means weighing both (lessons 5–6).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4813280" y="8549640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33404F"/>
                </a:solidFill>
              </a:defRPr>
            </a:lvl1pPr>
          </a:lstStyle>
          <a:p>
            <a:pPr rtl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 tag"/>
          <p:cNvSpPr/>
          <p:nvPr/>
        </p:nvSpPr>
        <p:spPr>
          <a:xfrm>
            <a:off x="731520" y="347472"/>
            <a:ext cx="5217566" cy="420624"/>
          </a:xfrm>
          <a:prstGeom prst="roundRect">
            <a:avLst>
              <a:gd name="adj" fmla="val 50000"/>
            </a:avLst>
          </a:prstGeom>
          <a:solidFill>
            <a:srgbClr val="C2452D"/>
          </a:solidFill>
          <a:ln w="12700">
            <a:solidFill>
              <a:srgbClr val="C2452D"/>
            </a:solidFill>
            <a:prstDash val="solid"/>
          </a:ln>
        </p:spPr>
      </p:sp>
      <p:pic>
        <p:nvPicPr>
          <p:cNvPr id="3" name="question tag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411480"/>
            <a:ext cx="292608" cy="292608"/>
          </a:xfrm>
          <a:prstGeom prst="rect">
            <a:avLst/>
          </a:prstGeom>
        </p:spPr>
      </p:pic>
      <p:sp>
        <p:nvSpPr>
          <p:cNvPr id="4" name="question tag text"/>
          <p:cNvSpPr txBox="1"/>
          <p:nvPr/>
        </p:nvSpPr>
        <p:spPr>
          <a:xfrm>
            <a:off x="1234440" y="347472"/>
            <a:ext cx="466892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rtl="0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Q4  ·  What are the limits of computation?</a:t>
            </a:r>
            <a:endParaRPr lang="en-US" sz="15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868680"/>
            <a:ext cx="1481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3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limits of computation: two different walls</a:t>
            </a:r>
            <a:endParaRPr lang="en-US" sz="3800" dirty="0"/>
          </a:p>
        </p:txBody>
      </p:sp>
      <p:sp>
        <p:nvSpPr>
          <p:cNvPr id="6" name="Unsolvable card"/>
          <p:cNvSpPr/>
          <p:nvPr/>
        </p:nvSpPr>
        <p:spPr>
          <a:xfrm>
            <a:off x="731520" y="2103120"/>
            <a:ext cx="7223760" cy="5989320"/>
          </a:xfrm>
          <a:prstGeom prst="roundRect">
            <a:avLst>
              <a:gd name="adj" fmla="val 2290"/>
            </a:avLst>
          </a:prstGeom>
          <a:solidFill>
            <a:srgbClr val="C2452D">
              <a:alpha val="9000"/>
            </a:srgbClr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377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2800" b="1" dirty="0">
                <a:solidFill>
                  <a:srgbClr val="C2452D"/>
                </a:solidFill>
              </a:rPr>
              <a:t>Unsolvable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30632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900" b="1" dirty="0">
                <a:solidFill>
                  <a:srgbClr val="1B2A41"/>
                </a:solidFill>
              </a:rPr>
              <a:t>No algorithm can exist — on any computer, ever.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4114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800" dirty="0">
                <a:solidFill>
                  <a:srgbClr val="1B2A41"/>
                </a:solidFill>
              </a:rPr>
              <a:t>Example: the halting problem. Decide, for every program and input, whether the program will eventually stop.</a:t>
            </a:r>
            <a:endParaRPr lang="en-US" sz="1800" dirty="0"/>
          </a:p>
        </p:txBody>
      </p:sp>
      <p:sp>
        <p:nvSpPr>
          <p:cNvPr id="10" name="Intractable card"/>
          <p:cNvSpPr/>
          <p:nvPr/>
        </p:nvSpPr>
        <p:spPr>
          <a:xfrm>
            <a:off x="8321040" y="2103120"/>
            <a:ext cx="7223760" cy="5989320"/>
          </a:xfrm>
          <a:prstGeom prst="roundRect">
            <a:avLst>
              <a:gd name="adj" fmla="val 2290"/>
            </a:avLst>
          </a:prstGeom>
          <a:solidFill>
            <a:srgbClr val="C2452D">
              <a:alpha val="9000"/>
            </a:srgbClr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732520" y="2377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2800" b="1" dirty="0">
                <a:solidFill>
                  <a:srgbClr val="C2452D"/>
                </a:solidFill>
              </a:rPr>
              <a:t>Intractable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8732520" y="30632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900" b="1" dirty="0">
                <a:solidFill>
                  <a:srgbClr val="1B2A41"/>
                </a:solidFill>
              </a:rPr>
              <a:t>An algorithm exists, but (as far as we know) every one is far too slow on large inputs.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4114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800" dirty="0">
                <a:solidFill>
                  <a:srgbClr val="1B2A41"/>
                </a:solidFill>
              </a:rPr>
              <a:t>Example: the most parsimonious evolutionary tree (NP-hard). The number of possible trees explodes: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56692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800" i="1" dirty="0">
                <a:solidFill>
                  <a:srgbClr val="33404F"/>
                </a:solidFill>
              </a:rPr>
              <a:t>We do not even know how to check this for a 10-line program — see the next slide.</a:t>
            </a:r>
            <a:endParaRPr lang="en-US" sz="1800" dirty="0"/>
          </a:p>
        </p:txBody>
      </p:sp>
      <p:graphicFrame>
        <p:nvGraphicFramePr>
          <p:cNvPr id="12" name="tree coun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732520" y="5486400"/>
          <a:ext cx="6400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389120"/>
              </a:tblGrid>
              <a:tr h="475488">
                <a:tc>
                  <a:txBody>
                    <a:bodyPr/>
                    <a:lstStyle/>
                    <a:p>
                      <a:pPr algn="l" rtl="0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52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 unrooted trees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52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rtl="0" indent="0" marL="0">
                        <a:buNone/>
                      </a:pPr>
                      <a:r>
                        <a:rPr lang="en-US" sz="17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indent="0" marL="0">
                        <a:buNone/>
                      </a:pPr>
                      <a:r>
                        <a:rPr lang="en-US" sz="17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 million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rtl="0" indent="0" marL="0">
                        <a:buNone/>
                      </a:pPr>
                      <a:r>
                        <a:rPr lang="en-US" sz="17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indent="0" marL="0">
                        <a:buNone/>
                      </a:pPr>
                      <a:r>
                        <a:rPr lang="en-US" sz="17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 × 10²⁰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rtl="0" indent="0" marL="0">
                        <a:buNone/>
                      </a:pPr>
                      <a:r>
                        <a:rPr lang="en-US" sz="17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indent="0" marL="0">
                        <a:buNone/>
                      </a:pPr>
                      <a:r>
                        <a:rPr lang="en-US" sz="17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3 × 10⁷⁴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4813280" y="8549640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33404F"/>
                </a:solidFill>
              </a:defRPr>
            </a:lvl1pPr>
          </a:lstStyle>
          <a:p>
            <a:pPr rtl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 tag"/>
          <p:cNvSpPr/>
          <p:nvPr/>
        </p:nvSpPr>
        <p:spPr>
          <a:xfrm>
            <a:off x="731520" y="347472"/>
            <a:ext cx="5217566" cy="420624"/>
          </a:xfrm>
          <a:prstGeom prst="roundRect">
            <a:avLst>
              <a:gd name="adj" fmla="val 50000"/>
            </a:avLst>
          </a:prstGeom>
          <a:solidFill>
            <a:srgbClr val="C2452D"/>
          </a:solidFill>
          <a:ln w="12700">
            <a:solidFill>
              <a:srgbClr val="C2452D"/>
            </a:solidFill>
            <a:prstDash val="solid"/>
          </a:ln>
        </p:spPr>
      </p:sp>
      <p:pic>
        <p:nvPicPr>
          <p:cNvPr id="3" name="question tag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411480"/>
            <a:ext cx="292608" cy="292608"/>
          </a:xfrm>
          <a:prstGeom prst="rect">
            <a:avLst/>
          </a:prstGeom>
        </p:spPr>
      </p:pic>
      <p:sp>
        <p:nvSpPr>
          <p:cNvPr id="4" name="question tag text"/>
          <p:cNvSpPr txBox="1"/>
          <p:nvPr/>
        </p:nvSpPr>
        <p:spPr>
          <a:xfrm>
            <a:off x="1234440" y="347472"/>
            <a:ext cx="466892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rtl="0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Q4  ·  What are the limits of computation?</a:t>
            </a:r>
            <a:endParaRPr lang="en-US" sz="15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868680"/>
            <a:ext cx="1481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3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this program stop?</a:t>
            </a:r>
            <a:endParaRPr lang="en-US" sz="3800" dirty="0"/>
          </a:p>
        </p:txBody>
      </p:sp>
      <p:sp>
        <p:nvSpPr>
          <p:cNvPr id="6" name="Collatz code background"/>
          <p:cNvSpPr/>
          <p:nvPr/>
        </p:nvSpPr>
        <p:spPr>
          <a:xfrm>
            <a:off x="731520" y="2103120"/>
            <a:ext cx="6949440" cy="4937760"/>
          </a:xfrm>
          <a:prstGeom prst="roundRect">
            <a:avLst>
              <a:gd name="adj" fmla="val 2778"/>
            </a:avLst>
          </a:prstGeom>
          <a:solidFill>
            <a:srgbClr val="1B2A41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7" name="Collatz code"/>
          <p:cNvSpPr txBox="1"/>
          <p:nvPr/>
        </p:nvSpPr>
        <p:spPr>
          <a:xfrm>
            <a:off x="1051560" y="2377440"/>
            <a:ext cx="6309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rtl="0"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steps(n):</a:t>
            </a:r>
            <a:endParaRPr lang="en-US" sz="1700" dirty="0"/>
          </a:p>
          <a:p>
            <a:pPr algn="l" rtl="0"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 = 0</a:t>
            </a:r>
            <a:endParaRPr lang="en-US" sz="1700" dirty="0"/>
          </a:p>
          <a:p>
            <a:pPr algn="l" rtl="0"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n != 1:</a:t>
            </a:r>
            <a:endParaRPr lang="en-US" sz="1700" dirty="0"/>
          </a:p>
          <a:p>
            <a:pPr algn="l" rtl="0"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 % 2 == 0:</a:t>
            </a:r>
            <a:endParaRPr lang="en-US" sz="1700" dirty="0"/>
          </a:p>
          <a:p>
            <a:pPr algn="l" rtl="0"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 = n // 2</a:t>
            </a:r>
            <a:endParaRPr lang="en-US" sz="1700" dirty="0"/>
          </a:p>
          <a:p>
            <a:pPr algn="l" rtl="0"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else:</a:t>
            </a:r>
            <a:endParaRPr lang="en-US" sz="1700" dirty="0"/>
          </a:p>
          <a:p>
            <a:pPr algn="l" rtl="0"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 = 3 * n + 1</a:t>
            </a:r>
            <a:endParaRPr lang="en-US" sz="1700" dirty="0"/>
          </a:p>
          <a:p>
            <a:pPr algn="l" rtl="0"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 += 1</a:t>
            </a:r>
            <a:endParaRPr lang="en-US" sz="1700" dirty="0"/>
          </a:p>
          <a:p>
            <a:pPr algn="l" rtl="0"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count</a:t>
            </a:r>
            <a:endParaRPr lang="en-US" sz="1700" dirty="0"/>
          </a:p>
        </p:txBody>
      </p:sp>
      <p:sp>
        <p:nvSpPr>
          <p:cNvPr id="8" name="n = 6 card"/>
          <p:cNvSpPr/>
          <p:nvPr/>
        </p:nvSpPr>
        <p:spPr>
          <a:xfrm>
            <a:off x="8138160" y="2103120"/>
            <a:ext cx="7406640" cy="1463040"/>
          </a:xfrm>
          <a:prstGeom prst="roundRect">
            <a:avLst>
              <a:gd name="adj" fmla="val 9375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58200" y="23317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2200" b="1" dirty="0">
                <a:solidFill>
                  <a:srgbClr val="C2452D"/>
                </a:solidFill>
              </a:rPr>
              <a:t>n = 6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10241280" y="228600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1800" dirty="0">
                <a:solidFill>
                  <a:srgbClr val="1B2A41"/>
                </a:solidFill>
              </a:rPr>
              <a:t>6 → 3 → 10 → 5 → 16 → 8 → 4 → 2 → 1. Stops after 8 steps.</a:t>
            </a:r>
            <a:endParaRPr lang="en-US" sz="1800" dirty="0"/>
          </a:p>
        </p:txBody>
      </p:sp>
      <p:sp>
        <p:nvSpPr>
          <p:cNvPr id="11" name="n = 27 card"/>
          <p:cNvSpPr/>
          <p:nvPr/>
        </p:nvSpPr>
        <p:spPr>
          <a:xfrm>
            <a:off x="8138160" y="3840480"/>
            <a:ext cx="7406640" cy="1463040"/>
          </a:xfrm>
          <a:prstGeom prst="roundRect">
            <a:avLst>
              <a:gd name="adj" fmla="val 9375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58200" y="40690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2200" b="1" dirty="0">
                <a:solidFill>
                  <a:srgbClr val="C2452D"/>
                </a:solidFill>
              </a:rPr>
              <a:t>n = 27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10241280" y="402336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1800" dirty="0">
                <a:solidFill>
                  <a:srgbClr val="1B2A41"/>
                </a:solidFill>
              </a:rPr>
              <a:t>Climbs as high as 9,232 and stops only after 111 steps.</a:t>
            </a:r>
            <a:endParaRPr lang="en-US" sz="1800" dirty="0"/>
          </a:p>
        </p:txBody>
      </p:sp>
      <p:sp>
        <p:nvSpPr>
          <p:cNvPr id="14" name="Every n? card"/>
          <p:cNvSpPr/>
          <p:nvPr/>
        </p:nvSpPr>
        <p:spPr>
          <a:xfrm>
            <a:off x="8138160" y="5577840"/>
            <a:ext cx="7406640" cy="1463040"/>
          </a:xfrm>
          <a:prstGeom prst="roundRect">
            <a:avLst>
              <a:gd name="adj" fmla="val 9375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58200" y="58064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2200" b="1" dirty="0">
                <a:solidFill>
                  <a:srgbClr val="C2452D"/>
                </a:solidFill>
              </a:rPr>
              <a:t>Every n?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10241280" y="576072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1800" dirty="0">
                <a:solidFill>
                  <a:srgbClr val="1B2A41"/>
                </a:solidFill>
              </a:rPr>
              <a:t>Checked by computer far beyond 10²⁰. No one has proved it always stops.</a:t>
            </a:r>
            <a:endParaRPr lang="en-US" sz="1800" dirty="0"/>
          </a:p>
        </p:txBody>
      </p:sp>
      <p:sp>
        <p:nvSpPr>
          <p:cNvPr id="17" name="Turing card"/>
          <p:cNvSpPr/>
          <p:nvPr/>
        </p:nvSpPr>
        <p:spPr>
          <a:xfrm>
            <a:off x="731520" y="7315200"/>
            <a:ext cx="14813280" cy="960120"/>
          </a:xfrm>
          <a:prstGeom prst="roundRect">
            <a:avLst>
              <a:gd name="adj" fmla="val 14286"/>
            </a:avLst>
          </a:prstGeom>
          <a:solidFill>
            <a:srgbClr val="C2452D">
              <a:alpha val="12000"/>
            </a:srgbClr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97280" y="7315200"/>
            <a:ext cx="1408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1900" b="1" dirty="0">
                <a:solidFill>
                  <a:srgbClr val="1B2A41"/>
                </a:solidFill>
              </a:rPr>
              <a:t>Turing, 1936: </a:t>
            </a:r>
            <a:pPr rtl="0" algn="l" indent="0" marL="0">
              <a:buNone/>
            </a:pPr>
            <a:r>
              <a:rPr lang="en-US" sz="1900" dirty="0">
                <a:solidFill>
                  <a:srgbClr val="1B2A41"/>
                </a:solidFill>
              </a:rPr>
              <a:t>no program can decide, for every program and input, whether it halts. The proof is in lesson 13.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4813280" y="8549640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33404F"/>
                </a:solidFill>
              </a:defRPr>
            </a:lvl1pPr>
          </a:lstStyle>
          <a:p>
            <a:pPr rtl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 tag"/>
          <p:cNvSpPr/>
          <p:nvPr/>
        </p:nvSpPr>
        <p:spPr>
          <a:xfrm>
            <a:off x="731520" y="347472"/>
            <a:ext cx="4678070" cy="420624"/>
          </a:xfrm>
          <a:prstGeom prst="roundRect">
            <a:avLst>
              <a:gd name="adj" fmla="val 50000"/>
            </a:avLst>
          </a:prstGeom>
          <a:solidFill>
            <a:srgbClr val="D98A1F"/>
          </a:solidFill>
          <a:ln w="12700">
            <a:solidFill>
              <a:srgbClr val="D98A1F"/>
            </a:solidFill>
            <a:prstDash val="solid"/>
          </a:ln>
        </p:spPr>
      </p:sp>
      <p:pic>
        <p:nvPicPr>
          <p:cNvPr id="3" name="question tag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411480"/>
            <a:ext cx="292608" cy="292608"/>
          </a:xfrm>
          <a:prstGeom prst="rect">
            <a:avLst/>
          </a:prstGeom>
        </p:spPr>
      </p:pic>
      <p:sp>
        <p:nvSpPr>
          <p:cNvPr id="4" name="question tag text"/>
          <p:cNvSpPr txBox="1"/>
          <p:nvPr/>
        </p:nvSpPr>
        <p:spPr>
          <a:xfrm>
            <a:off x="1234440" y="347472"/>
            <a:ext cx="412943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rtl="0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Q5  ·  How to use AI tools correctly?</a:t>
            </a:r>
            <a:endParaRPr lang="en-US" sz="15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868680"/>
            <a:ext cx="1481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3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AI tools correctly: you stay the author</a:t>
            </a:r>
            <a:endParaRPr lang="en-US" sz="3800" dirty="0"/>
          </a:p>
        </p:txBody>
      </p:sp>
      <p:sp>
        <p:nvSpPr>
          <p:cNvPr id="6" name="Specify step"/>
          <p:cNvSpPr/>
          <p:nvPr/>
        </p:nvSpPr>
        <p:spPr>
          <a:xfrm>
            <a:off x="731520" y="2103120"/>
            <a:ext cx="2697480" cy="3017520"/>
          </a:xfrm>
          <a:prstGeom prst="roundRect">
            <a:avLst>
              <a:gd name="adj" fmla="val 5085"/>
            </a:avLst>
          </a:prstGeom>
          <a:solidFill>
            <a:srgbClr val="D98A1F">
              <a:alpha val="13000"/>
            </a:srgbClr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05840" y="22860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3200" b="1" dirty="0">
                <a:solidFill>
                  <a:srgbClr val="D98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29260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2200" b="1" dirty="0">
                <a:solidFill>
                  <a:srgbClr val="1B2A41"/>
                </a:solidFill>
              </a:rPr>
              <a:t>Specify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34747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600" dirty="0">
                <a:solidFill>
                  <a:srgbClr val="1B2A41"/>
                </a:solidFill>
              </a:rPr>
              <a:t>State input, output and edge cases precisely.</a:t>
            </a:r>
            <a:endParaRPr lang="en-US" sz="1600" dirty="0"/>
          </a:p>
        </p:txBody>
      </p:sp>
      <p:sp>
        <p:nvSpPr>
          <p:cNvPr id="10" name="arrow"/>
          <p:cNvSpPr/>
          <p:nvPr/>
        </p:nvSpPr>
        <p:spPr>
          <a:xfrm>
            <a:off x="3447288" y="3474720"/>
            <a:ext cx="265176" cy="274320"/>
          </a:xfrm>
          <a:prstGeom prst="rightArrow">
            <a:avLst/>
          </a:prstGeom>
          <a:solidFill>
            <a:srgbClr val="D98A1F"/>
          </a:solidFill>
          <a:ln w="12700">
            <a:solidFill>
              <a:srgbClr val="D98A1F"/>
            </a:solidFill>
            <a:prstDash val="solid"/>
          </a:ln>
        </p:spPr>
      </p:sp>
      <p:sp>
        <p:nvSpPr>
          <p:cNvPr id="11" name="Generate step"/>
          <p:cNvSpPr/>
          <p:nvPr/>
        </p:nvSpPr>
        <p:spPr>
          <a:xfrm>
            <a:off x="3730752" y="2103120"/>
            <a:ext cx="2697480" cy="3017520"/>
          </a:xfrm>
          <a:prstGeom prst="roundRect">
            <a:avLst>
              <a:gd name="adj" fmla="val 5085"/>
            </a:avLst>
          </a:prstGeom>
          <a:solidFill>
            <a:srgbClr val="D98A1F">
              <a:alpha val="13000"/>
            </a:srgbClr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005072" y="22860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3200" b="1" dirty="0">
                <a:solidFill>
                  <a:srgbClr val="D98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4005072" y="29260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2200" b="1" dirty="0">
                <a:solidFill>
                  <a:srgbClr val="1B2A41"/>
                </a:solidFill>
              </a:rPr>
              <a:t>Generate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4005072" y="34747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600" dirty="0">
                <a:solidFill>
                  <a:srgbClr val="1B2A41"/>
                </a:solidFill>
              </a:rPr>
              <a:t>Let the tool draft the code.</a:t>
            </a:r>
            <a:endParaRPr lang="en-US" sz="1600" dirty="0"/>
          </a:p>
        </p:txBody>
      </p:sp>
      <p:sp>
        <p:nvSpPr>
          <p:cNvPr id="15" name="arrow"/>
          <p:cNvSpPr/>
          <p:nvPr/>
        </p:nvSpPr>
        <p:spPr>
          <a:xfrm>
            <a:off x="6446520" y="3474720"/>
            <a:ext cx="265176" cy="274320"/>
          </a:xfrm>
          <a:prstGeom prst="rightArrow">
            <a:avLst/>
          </a:prstGeom>
          <a:solidFill>
            <a:srgbClr val="D98A1F"/>
          </a:solidFill>
          <a:ln w="12700">
            <a:solidFill>
              <a:srgbClr val="D98A1F"/>
            </a:solidFill>
            <a:prstDash val="solid"/>
          </a:ln>
        </p:spPr>
      </p:sp>
      <p:sp>
        <p:nvSpPr>
          <p:cNvPr id="16" name="Read step"/>
          <p:cNvSpPr/>
          <p:nvPr/>
        </p:nvSpPr>
        <p:spPr>
          <a:xfrm>
            <a:off x="6729984" y="2103120"/>
            <a:ext cx="2697480" cy="3017520"/>
          </a:xfrm>
          <a:prstGeom prst="roundRect">
            <a:avLst>
              <a:gd name="adj" fmla="val 5085"/>
            </a:avLst>
          </a:prstGeom>
          <a:solidFill>
            <a:srgbClr val="D98A1F">
              <a:alpha val="13000"/>
            </a:srgbClr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004304" y="22860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3200" b="1" dirty="0">
                <a:solidFill>
                  <a:srgbClr val="D98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18" name="Text 15"/>
          <p:cNvSpPr txBox="1"/>
          <p:nvPr/>
        </p:nvSpPr>
        <p:spPr>
          <a:xfrm>
            <a:off x="7004304" y="29260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2200" b="1" dirty="0">
                <a:solidFill>
                  <a:srgbClr val="1B2A41"/>
                </a:solidFill>
              </a:rPr>
              <a:t>Read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7004304" y="34747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600" dirty="0">
                <a:solidFill>
                  <a:srgbClr val="1B2A41"/>
                </a:solidFill>
              </a:rPr>
              <a:t>Understand every line. Code you cannot read, you cannot check.</a:t>
            </a:r>
            <a:endParaRPr lang="en-US" sz="1600" dirty="0"/>
          </a:p>
        </p:txBody>
      </p:sp>
      <p:sp>
        <p:nvSpPr>
          <p:cNvPr id="20" name="arrow"/>
          <p:cNvSpPr/>
          <p:nvPr/>
        </p:nvSpPr>
        <p:spPr>
          <a:xfrm>
            <a:off x="9445752" y="3474720"/>
            <a:ext cx="265176" cy="274320"/>
          </a:xfrm>
          <a:prstGeom prst="rightArrow">
            <a:avLst/>
          </a:prstGeom>
          <a:solidFill>
            <a:srgbClr val="D98A1F"/>
          </a:solidFill>
          <a:ln w="12700">
            <a:solidFill>
              <a:srgbClr val="D98A1F"/>
            </a:solidFill>
            <a:prstDash val="solid"/>
          </a:ln>
        </p:spPr>
      </p:sp>
      <p:sp>
        <p:nvSpPr>
          <p:cNvPr id="21" name="Test step"/>
          <p:cNvSpPr/>
          <p:nvPr/>
        </p:nvSpPr>
        <p:spPr>
          <a:xfrm>
            <a:off x="9729216" y="2103120"/>
            <a:ext cx="2697480" cy="3017520"/>
          </a:xfrm>
          <a:prstGeom prst="roundRect">
            <a:avLst>
              <a:gd name="adj" fmla="val 5085"/>
            </a:avLst>
          </a:prstGeom>
          <a:solidFill>
            <a:srgbClr val="D98A1F">
              <a:alpha val="13000"/>
            </a:srgbClr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003536" y="22860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3200" b="1" dirty="0">
                <a:solidFill>
                  <a:srgbClr val="D98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200" dirty="0"/>
          </a:p>
        </p:txBody>
      </p:sp>
      <p:sp>
        <p:nvSpPr>
          <p:cNvPr id="23" name="Text 20"/>
          <p:cNvSpPr txBox="1"/>
          <p:nvPr/>
        </p:nvSpPr>
        <p:spPr>
          <a:xfrm>
            <a:off x="10003536" y="29260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2200" b="1" dirty="0">
                <a:solidFill>
                  <a:srgbClr val="1B2A41"/>
                </a:solidFill>
              </a:rPr>
              <a:t>Test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10003536" y="34747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600" dirty="0">
                <a:solidFill>
                  <a:srgbClr val="1B2A41"/>
                </a:solidFill>
              </a:rPr>
              <a:t>assert on known answers, edge cases, bad input; check time and memory.</a:t>
            </a:r>
            <a:endParaRPr lang="en-US" sz="1600" dirty="0"/>
          </a:p>
        </p:txBody>
      </p:sp>
      <p:sp>
        <p:nvSpPr>
          <p:cNvPr id="25" name="arrow"/>
          <p:cNvSpPr/>
          <p:nvPr/>
        </p:nvSpPr>
        <p:spPr>
          <a:xfrm>
            <a:off x="12444984" y="3474720"/>
            <a:ext cx="265176" cy="274320"/>
          </a:xfrm>
          <a:prstGeom prst="rightArrow">
            <a:avLst/>
          </a:prstGeom>
          <a:solidFill>
            <a:srgbClr val="D98A1F"/>
          </a:solidFill>
          <a:ln w="12700">
            <a:solidFill>
              <a:srgbClr val="D98A1F"/>
            </a:solidFill>
            <a:prstDash val="solid"/>
          </a:ln>
        </p:spPr>
      </p:sp>
      <p:sp>
        <p:nvSpPr>
          <p:cNvPr id="26" name="Own step"/>
          <p:cNvSpPr/>
          <p:nvPr/>
        </p:nvSpPr>
        <p:spPr>
          <a:xfrm>
            <a:off x="12728448" y="2103120"/>
            <a:ext cx="2697480" cy="3017520"/>
          </a:xfrm>
          <a:prstGeom prst="roundRect">
            <a:avLst>
              <a:gd name="adj" fmla="val 5085"/>
            </a:avLst>
          </a:prstGeom>
          <a:solidFill>
            <a:srgbClr val="D98A1F">
              <a:alpha val="13000"/>
            </a:srgbClr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3002768" y="22860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3200" b="1" dirty="0">
                <a:solidFill>
                  <a:srgbClr val="D98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200" dirty="0"/>
          </a:p>
        </p:txBody>
      </p:sp>
      <p:sp>
        <p:nvSpPr>
          <p:cNvPr id="28" name="Text 25"/>
          <p:cNvSpPr txBox="1"/>
          <p:nvPr/>
        </p:nvSpPr>
        <p:spPr>
          <a:xfrm>
            <a:off x="13002768" y="29260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2200" b="1" dirty="0">
                <a:solidFill>
                  <a:srgbClr val="1B2A41"/>
                </a:solidFill>
              </a:rPr>
              <a:t>Own</a:t>
            </a:r>
            <a:endParaRPr lang="en-US" sz="2200" dirty="0"/>
          </a:p>
        </p:txBody>
      </p:sp>
      <p:sp>
        <p:nvSpPr>
          <p:cNvPr id="29" name="Text 26"/>
          <p:cNvSpPr txBox="1"/>
          <p:nvPr/>
        </p:nvSpPr>
        <p:spPr>
          <a:xfrm>
            <a:off x="13002768" y="34747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600" dirty="0">
                <a:solidFill>
                  <a:srgbClr val="1B2A41"/>
                </a:solidFill>
              </a:rPr>
              <a:t>Fix, document, take responsibility. The tool is not the author.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731520" y="5486400"/>
            <a:ext cx="1481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2000" b="1" dirty="0">
                <a:solidFill>
                  <a:srgbClr val="1B2A41"/>
                </a:solidFill>
              </a:rPr>
              <a:t>Typical failures in AI-written biology code — what to look for (lesson 12)</a:t>
            </a:r>
            <a:endParaRPr lang="en-US" sz="2000" dirty="0"/>
          </a:p>
        </p:txBody>
      </p:sp>
      <p:sp>
        <p:nvSpPr>
          <p:cNvPr id="31" name="Indexing failure"/>
          <p:cNvSpPr/>
          <p:nvPr/>
        </p:nvSpPr>
        <p:spPr>
          <a:xfrm>
            <a:off x="731520" y="6080760"/>
            <a:ext cx="3383280" cy="2011680"/>
          </a:xfrm>
          <a:prstGeom prst="roundRect">
            <a:avLst>
              <a:gd name="adj" fmla="val 6818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pic>
        <p:nvPicPr>
          <p:cNvPr id="32" name="warning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6309360"/>
            <a:ext cx="384048" cy="384048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1508760" y="62910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1800" b="1" dirty="0">
                <a:solidFill>
                  <a:srgbClr val="1B2A41"/>
                </a:solidFill>
              </a:rPr>
              <a:t>Indexing</a:t>
            </a:r>
            <a:endParaRPr lang="en-US" sz="1800" dirty="0"/>
          </a:p>
        </p:txBody>
      </p:sp>
      <p:sp>
        <p:nvSpPr>
          <p:cNvPr id="34" name="Text 30"/>
          <p:cNvSpPr txBox="1"/>
          <p:nvPr/>
        </p:nvSpPr>
        <p:spPr>
          <a:xfrm>
            <a:off x="1005840" y="685800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500" dirty="0">
                <a:solidFill>
                  <a:srgbClr val="1B2A41"/>
                </a:solidFill>
              </a:rPr>
              <a:t>off-by-one; 0-based vs. 1-based genome coordinates</a:t>
            </a:r>
            <a:endParaRPr lang="en-US" sz="1500" dirty="0"/>
          </a:p>
        </p:txBody>
      </p:sp>
      <p:sp>
        <p:nvSpPr>
          <p:cNvPr id="35" name="Hidden assumptions failure"/>
          <p:cNvSpPr/>
          <p:nvPr/>
        </p:nvSpPr>
        <p:spPr>
          <a:xfrm>
            <a:off x="4480560" y="6080760"/>
            <a:ext cx="3383280" cy="2011680"/>
          </a:xfrm>
          <a:prstGeom prst="roundRect">
            <a:avLst>
              <a:gd name="adj" fmla="val 6818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pic>
        <p:nvPicPr>
          <p:cNvPr id="36" name="warning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6309360"/>
            <a:ext cx="384048" cy="384048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5257800" y="62910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1800" b="1" dirty="0">
                <a:solidFill>
                  <a:srgbClr val="1B2A41"/>
                </a:solidFill>
              </a:rPr>
              <a:t>Hidden assumptions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4754880" y="685800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500" dirty="0">
                <a:solidFill>
                  <a:srgbClr val="1B2A41"/>
                </a:solidFill>
              </a:rPr>
              <a:t>uppercase only, no ‘N’, one sequence per file</a:t>
            </a:r>
            <a:endParaRPr lang="en-US" sz="1500" dirty="0"/>
          </a:p>
        </p:txBody>
      </p:sp>
      <p:sp>
        <p:nvSpPr>
          <p:cNvPr id="39" name="Wasted resources failure"/>
          <p:cNvSpPr/>
          <p:nvPr/>
        </p:nvSpPr>
        <p:spPr>
          <a:xfrm>
            <a:off x="8229600" y="6080760"/>
            <a:ext cx="3383280" cy="2011680"/>
          </a:xfrm>
          <a:prstGeom prst="roundRect">
            <a:avLst>
              <a:gd name="adj" fmla="val 6818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pic>
        <p:nvPicPr>
          <p:cNvPr id="40" name="warning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6309360"/>
            <a:ext cx="384048" cy="384048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9006840" y="62910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1800" b="1" dirty="0">
                <a:solidFill>
                  <a:srgbClr val="1B2A41"/>
                </a:solidFill>
              </a:rPr>
              <a:t>Wasted resources</a:t>
            </a:r>
            <a:endParaRPr lang="en-US" sz="1800" dirty="0"/>
          </a:p>
        </p:txBody>
      </p:sp>
      <p:sp>
        <p:nvSpPr>
          <p:cNvPr id="42" name="Text 36"/>
          <p:cNvSpPr txBox="1"/>
          <p:nvPr/>
        </p:nvSpPr>
        <p:spPr>
          <a:xfrm>
            <a:off x="8503920" y="685800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500" dirty="0">
                <a:solidFill>
                  <a:srgbClr val="1B2A41"/>
                </a:solidFill>
              </a:rPr>
              <a:t>n² where n would do; loading everything into memory</a:t>
            </a:r>
            <a:endParaRPr lang="en-US" sz="1500" dirty="0"/>
          </a:p>
        </p:txBody>
      </p:sp>
      <p:sp>
        <p:nvSpPr>
          <p:cNvPr id="43" name="Silent failure failure"/>
          <p:cNvSpPr/>
          <p:nvPr/>
        </p:nvSpPr>
        <p:spPr>
          <a:xfrm>
            <a:off x="11978640" y="6080760"/>
            <a:ext cx="3383280" cy="2011680"/>
          </a:xfrm>
          <a:prstGeom prst="roundRect">
            <a:avLst>
              <a:gd name="adj" fmla="val 6818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pic>
        <p:nvPicPr>
          <p:cNvPr id="44" name="warning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52960" y="6309360"/>
            <a:ext cx="384048" cy="384048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12755880" y="62910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1800" b="1" dirty="0">
                <a:solidFill>
                  <a:srgbClr val="1B2A41"/>
                </a:solidFill>
              </a:rPr>
              <a:t>Silent failure</a:t>
            </a:r>
            <a:endParaRPr lang="en-US" sz="1800" dirty="0"/>
          </a:p>
        </p:txBody>
      </p:sp>
      <p:sp>
        <p:nvSpPr>
          <p:cNvPr id="46" name="Text 39"/>
          <p:cNvSpPr txBox="1"/>
          <p:nvPr/>
        </p:nvSpPr>
        <p:spPr>
          <a:xfrm>
            <a:off x="12252960" y="685800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500" dirty="0">
                <a:solidFill>
                  <a:srgbClr val="1B2A41"/>
                </a:solidFill>
              </a:rPr>
              <a:t>empty or malformed FASTA gives a wrong answer, not an error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4813280" y="8549640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33404F"/>
                </a:solidFill>
              </a:defRPr>
            </a:lvl1pPr>
          </a:lstStyle>
          <a:p>
            <a:pPr rtl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 tag"/>
          <p:cNvSpPr/>
          <p:nvPr/>
        </p:nvSpPr>
        <p:spPr>
          <a:xfrm>
            <a:off x="731520" y="347472"/>
            <a:ext cx="4678070" cy="420624"/>
          </a:xfrm>
          <a:prstGeom prst="roundRect">
            <a:avLst>
              <a:gd name="adj" fmla="val 50000"/>
            </a:avLst>
          </a:prstGeom>
          <a:solidFill>
            <a:srgbClr val="D98A1F"/>
          </a:solidFill>
          <a:ln w="12700">
            <a:solidFill>
              <a:srgbClr val="D98A1F"/>
            </a:solidFill>
            <a:prstDash val="solid"/>
          </a:ln>
        </p:spPr>
      </p:sp>
      <p:pic>
        <p:nvPicPr>
          <p:cNvPr id="3" name="question tag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411480"/>
            <a:ext cx="292608" cy="292608"/>
          </a:xfrm>
          <a:prstGeom prst="rect">
            <a:avLst/>
          </a:prstGeom>
        </p:spPr>
      </p:pic>
      <p:sp>
        <p:nvSpPr>
          <p:cNvPr id="4" name="question tag text"/>
          <p:cNvSpPr txBox="1"/>
          <p:nvPr/>
        </p:nvSpPr>
        <p:spPr>
          <a:xfrm>
            <a:off x="1234440" y="347472"/>
            <a:ext cx="412943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rtl="0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Q5  ·  How to use AI tools correctly?</a:t>
            </a:r>
            <a:endParaRPr lang="en-US" sz="15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868680"/>
            <a:ext cx="1481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3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first learn without AI</a:t>
            </a:r>
            <a:endParaRPr lang="en-US" sz="3800" dirty="0"/>
          </a:p>
        </p:txBody>
      </p:sp>
      <p:sp>
        <p:nvSpPr>
          <p:cNvPr id="6" name="no-AI phase"/>
          <p:cNvSpPr/>
          <p:nvPr/>
        </p:nvSpPr>
        <p:spPr>
          <a:xfrm>
            <a:off x="731520" y="2148840"/>
            <a:ext cx="10182196" cy="1783080"/>
          </a:xfrm>
          <a:prstGeom prst="roundRect">
            <a:avLst>
              <a:gd name="adj" fmla="val 7692"/>
            </a:avLst>
          </a:prstGeom>
          <a:solidFill>
            <a:srgbClr val="0E7C7B">
              <a:alpha val="12000"/>
            </a:srgbClr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7" name="AI phase"/>
          <p:cNvSpPr/>
          <p:nvPr/>
        </p:nvSpPr>
        <p:spPr>
          <a:xfrm>
            <a:off x="11060020" y="2148840"/>
            <a:ext cx="4484780" cy="1783080"/>
          </a:xfrm>
          <a:prstGeom prst="roundRect">
            <a:avLst>
              <a:gd name="adj" fmla="val 7692"/>
            </a:avLst>
          </a:prstGeom>
          <a:solidFill>
            <a:srgbClr val="D98A1F">
              <a:alpha val="20000"/>
            </a:srgbClr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8" name="lesson 1"/>
          <p:cNvSpPr/>
          <p:nvPr/>
        </p:nvSpPr>
        <p:spPr>
          <a:xfrm>
            <a:off x="1026942" y="2377440"/>
            <a:ext cx="548640" cy="5486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26942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lesson 2"/>
          <p:cNvSpPr/>
          <p:nvPr/>
        </p:nvSpPr>
        <p:spPr>
          <a:xfrm>
            <a:off x="2166425" y="2377440"/>
            <a:ext cx="548640" cy="5486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166425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lesson 3"/>
          <p:cNvSpPr/>
          <p:nvPr/>
        </p:nvSpPr>
        <p:spPr>
          <a:xfrm>
            <a:off x="3305908" y="2377440"/>
            <a:ext cx="548640" cy="5486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05908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lesson 4"/>
          <p:cNvSpPr/>
          <p:nvPr/>
        </p:nvSpPr>
        <p:spPr>
          <a:xfrm>
            <a:off x="4445391" y="2377440"/>
            <a:ext cx="548640" cy="5486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45391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lesson 5"/>
          <p:cNvSpPr/>
          <p:nvPr/>
        </p:nvSpPr>
        <p:spPr>
          <a:xfrm>
            <a:off x="5584874" y="2377440"/>
            <a:ext cx="548640" cy="5486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584874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lesson 6"/>
          <p:cNvSpPr/>
          <p:nvPr/>
        </p:nvSpPr>
        <p:spPr>
          <a:xfrm>
            <a:off x="6724357" y="2377440"/>
            <a:ext cx="548640" cy="5486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724357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lesson 7"/>
          <p:cNvSpPr/>
          <p:nvPr/>
        </p:nvSpPr>
        <p:spPr>
          <a:xfrm>
            <a:off x="7863840" y="2377440"/>
            <a:ext cx="548640" cy="5486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86384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22" name="lesson 8"/>
          <p:cNvSpPr/>
          <p:nvPr/>
        </p:nvSpPr>
        <p:spPr>
          <a:xfrm>
            <a:off x="9003323" y="2377440"/>
            <a:ext cx="548640" cy="5486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03323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24" name="lesson 9"/>
          <p:cNvSpPr/>
          <p:nvPr/>
        </p:nvSpPr>
        <p:spPr>
          <a:xfrm>
            <a:off x="10142806" y="2377440"/>
            <a:ext cx="548640" cy="5486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142806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9</a:t>
            </a:r>
            <a:endParaRPr lang="en-US" sz="1600" dirty="0"/>
          </a:p>
        </p:txBody>
      </p:sp>
      <p:sp>
        <p:nvSpPr>
          <p:cNvPr id="26" name="lesson 10"/>
          <p:cNvSpPr/>
          <p:nvPr/>
        </p:nvSpPr>
        <p:spPr>
          <a:xfrm>
            <a:off x="11282289" y="2377440"/>
            <a:ext cx="548640" cy="548640"/>
          </a:xfrm>
          <a:prstGeom prst="ellipse">
            <a:avLst/>
          </a:prstGeom>
          <a:solidFill>
            <a:srgbClr val="D98A1F"/>
          </a:solidFill>
          <a:ln w="12700">
            <a:solidFill>
              <a:srgbClr val="D98A1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282289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10</a:t>
            </a:r>
            <a:endParaRPr lang="en-US" sz="1600" dirty="0"/>
          </a:p>
        </p:txBody>
      </p:sp>
      <p:sp>
        <p:nvSpPr>
          <p:cNvPr id="28" name="lesson 11"/>
          <p:cNvSpPr/>
          <p:nvPr/>
        </p:nvSpPr>
        <p:spPr>
          <a:xfrm>
            <a:off x="12421772" y="2377440"/>
            <a:ext cx="548640" cy="548640"/>
          </a:xfrm>
          <a:prstGeom prst="ellipse">
            <a:avLst/>
          </a:prstGeom>
          <a:solidFill>
            <a:srgbClr val="D98A1F"/>
          </a:solidFill>
          <a:ln w="12700">
            <a:solidFill>
              <a:srgbClr val="D98A1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2421772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11</a:t>
            </a:r>
            <a:endParaRPr lang="en-US" sz="1600" dirty="0"/>
          </a:p>
        </p:txBody>
      </p:sp>
      <p:sp>
        <p:nvSpPr>
          <p:cNvPr id="30" name="lesson 12"/>
          <p:cNvSpPr/>
          <p:nvPr/>
        </p:nvSpPr>
        <p:spPr>
          <a:xfrm>
            <a:off x="13561255" y="2377440"/>
            <a:ext cx="548640" cy="548640"/>
          </a:xfrm>
          <a:prstGeom prst="ellipse">
            <a:avLst/>
          </a:prstGeom>
          <a:solidFill>
            <a:srgbClr val="D98A1F"/>
          </a:solidFill>
          <a:ln w="12700">
            <a:solidFill>
              <a:srgbClr val="D98A1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3561255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12</a:t>
            </a:r>
            <a:endParaRPr lang="en-US" sz="1600" dirty="0"/>
          </a:p>
        </p:txBody>
      </p:sp>
      <p:sp>
        <p:nvSpPr>
          <p:cNvPr id="32" name="lesson 13"/>
          <p:cNvSpPr/>
          <p:nvPr/>
        </p:nvSpPr>
        <p:spPr>
          <a:xfrm>
            <a:off x="14700738" y="2377440"/>
            <a:ext cx="548640" cy="548640"/>
          </a:xfrm>
          <a:prstGeom prst="ellipse">
            <a:avLst/>
          </a:prstGeom>
          <a:solidFill>
            <a:srgbClr val="D98A1F"/>
          </a:solidFill>
          <a:ln w="12700">
            <a:solidFill>
              <a:srgbClr val="D98A1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4700738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13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1005840" y="3108960"/>
            <a:ext cx="97067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2000" b="1" dirty="0">
                <a:solidFill>
                  <a:srgbClr val="0E7C7B"/>
                </a:solidFill>
              </a:rPr>
              <a:t>Lessons 1–9 · HW 1–4:  without AI tools</a:t>
            </a:r>
            <a:endParaRPr lang="en-US" sz="2000" dirty="0"/>
          </a:p>
        </p:txBody>
      </p:sp>
      <p:sp>
        <p:nvSpPr>
          <p:cNvPr id="35" name="Text 32"/>
          <p:cNvSpPr txBox="1"/>
          <p:nvPr/>
        </p:nvSpPr>
        <p:spPr>
          <a:xfrm>
            <a:off x="11306908" y="3063240"/>
            <a:ext cx="40092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1700" b="1" dirty="0">
                <a:solidFill>
                  <a:srgbClr val="1B2A41"/>
                </a:solidFill>
              </a:rPr>
              <a:t>Lessons 10–13 · HW 5:  AI allowed — and expected</a:t>
            </a:r>
            <a:endParaRPr lang="en-US" sz="1700" dirty="0"/>
          </a:p>
        </p:txBody>
      </p:sp>
      <p:pic>
        <p:nvPicPr>
          <p:cNvPr id="36" name="quot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434840"/>
            <a:ext cx="640080" cy="640080"/>
          </a:xfrm>
          <a:prstGeom prst="rect">
            <a:avLst/>
          </a:prstGeom>
        </p:spPr>
      </p:pic>
      <p:sp>
        <p:nvSpPr>
          <p:cNvPr id="37" name="Text 33"/>
          <p:cNvSpPr txBox="1"/>
          <p:nvPr/>
        </p:nvSpPr>
        <p:spPr>
          <a:xfrm>
            <a:off x="1600200" y="434340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3000" b="1" dirty="0">
                <a:solidFill>
                  <a:srgbClr val="1B2A41"/>
                </a:solidFill>
              </a:rPr>
              <a:t>You cannot critique code you cannot read.</a:t>
            </a:r>
            <a:endParaRPr lang="en-US" sz="3000" dirty="0"/>
          </a:p>
        </p:txBody>
      </p:sp>
      <p:sp>
        <p:nvSpPr>
          <p:cNvPr id="38" name="Text 34"/>
          <p:cNvSpPr txBox="1"/>
          <p:nvPr/>
        </p:nvSpPr>
        <p:spPr>
          <a:xfrm>
            <a:off x="1600200" y="5897880"/>
            <a:ext cx="6400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800" dirty="0">
                <a:solidFill>
                  <a:srgbClr val="33404F"/>
                </a:solidFill>
              </a:rPr>
              <a:t>First we build independent reading and writing of code; only then do we use the tools. Understanding the limits of computation is what lets you judge what a tool can and cannot give you.</a:t>
            </a:r>
            <a:endParaRPr lang="en-US" sz="1800" dirty="0"/>
          </a:p>
        </p:txBody>
      </p:sp>
      <p:sp>
        <p:nvSpPr>
          <p:cNvPr id="39" name="submission card"/>
          <p:cNvSpPr/>
          <p:nvPr/>
        </p:nvSpPr>
        <p:spPr>
          <a:xfrm>
            <a:off x="8732520" y="4343400"/>
            <a:ext cx="6812280" cy="3749040"/>
          </a:xfrm>
          <a:prstGeom prst="roundRect">
            <a:avLst>
              <a:gd name="adj" fmla="val 3659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9098280" y="457200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2000" b="1" dirty="0">
                <a:solidFill>
                  <a:srgbClr val="1B2A41"/>
                </a:solidFill>
              </a:rPr>
              <a:t>Every AI-phase submission includes</a:t>
            </a:r>
            <a:endParaRPr lang="en-US" sz="2000" dirty="0"/>
          </a:p>
        </p:txBody>
      </p:sp>
      <p:sp>
        <p:nvSpPr>
          <p:cNvPr id="41" name="Text 37"/>
          <p:cNvSpPr txBox="1"/>
          <p:nvPr/>
        </p:nvSpPr>
        <p:spPr>
          <a:xfrm>
            <a:off x="9098280" y="516636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</a:rPr>
              <a:t>The prompt you gave the tool</a:t>
            </a:r>
            <a:endParaRPr lang="en-US" sz="1800" dirty="0"/>
          </a:p>
          <a:p>
            <a:pPr rtl="0"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</a:rPr>
              <a:t>The tool’s first output</a:t>
            </a:r>
            <a:endParaRPr lang="en-US" sz="1800" dirty="0"/>
          </a:p>
          <a:p>
            <a:pPr rtl="0"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</a:rPr>
              <a:t>The fixes you made</a:t>
            </a:r>
            <a:endParaRPr lang="en-US" sz="1800" dirty="0"/>
          </a:p>
          <a:p>
            <a:pPr rtl="0"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</a:rPr>
              <a:t>The tests that verify the result</a:t>
            </a:r>
            <a:endParaRPr lang="en-US" sz="1800" dirty="0"/>
          </a:p>
        </p:txBody>
      </p:sp>
      <p:sp>
        <p:nvSpPr>
          <p:cNvPr id="42" name="Text 38"/>
          <p:cNvSpPr txBox="1"/>
          <p:nvPr/>
        </p:nvSpPr>
        <p:spPr>
          <a:xfrm>
            <a:off x="9098280" y="713232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1700" b="1" dirty="0">
                <a:solidFill>
                  <a:srgbClr val="C2452D"/>
                </a:solidFill>
              </a:rPr>
              <a:t>Responsibility for the code’s correctness is yours alone.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4813280" y="8549640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33404F"/>
                </a:solidFill>
              </a:defRPr>
            </a:lvl1pPr>
          </a:lstStyle>
          <a:p>
            <a:pPr rtl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 tag"/>
          <p:cNvSpPr/>
          <p:nvPr/>
        </p:nvSpPr>
        <p:spPr>
          <a:xfrm>
            <a:off x="731520" y="347472"/>
            <a:ext cx="4246474" cy="420624"/>
          </a:xfrm>
          <a:prstGeom prst="roundRect">
            <a:avLst>
              <a:gd name="adj" fmla="val 50000"/>
            </a:avLst>
          </a:prstGeom>
          <a:solidFill>
            <a:srgbClr val="6C5BA8"/>
          </a:solidFill>
          <a:ln w="12700">
            <a:solidFill>
              <a:srgbClr val="6C5BA8"/>
            </a:solidFill>
            <a:prstDash val="solid"/>
          </a:ln>
        </p:spPr>
      </p:sp>
      <p:pic>
        <p:nvPicPr>
          <p:cNvPr id="3" name="question tag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411480"/>
            <a:ext cx="292608" cy="292608"/>
          </a:xfrm>
          <a:prstGeom prst="rect">
            <a:avLst/>
          </a:prstGeom>
        </p:spPr>
      </p:pic>
      <p:sp>
        <p:nvSpPr>
          <p:cNvPr id="4" name="question tag text"/>
          <p:cNvSpPr txBox="1"/>
          <p:nvPr/>
        </p:nvSpPr>
        <p:spPr>
          <a:xfrm>
            <a:off x="1234440" y="347472"/>
            <a:ext cx="369783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rtl="0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Q6  ·  Does AI change the limits?</a:t>
            </a:r>
            <a:endParaRPr lang="en-US" sz="15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868680"/>
            <a:ext cx="1481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3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AI change the limits of computation?</a:t>
            </a:r>
            <a:endParaRPr lang="en-US" sz="3800" dirty="0"/>
          </a:p>
        </p:txBody>
      </p:sp>
      <p:sp>
        <p:nvSpPr>
          <p:cNvPr id="6" name="What AI does not change"/>
          <p:cNvSpPr/>
          <p:nvPr/>
        </p:nvSpPr>
        <p:spPr>
          <a:xfrm>
            <a:off x="731520" y="2103120"/>
            <a:ext cx="7223760" cy="4937760"/>
          </a:xfrm>
          <a:prstGeom prst="roundRect">
            <a:avLst>
              <a:gd name="adj" fmla="val 2778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pic>
        <p:nvPicPr>
          <p:cNvPr id="7" name="What AI does not chang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377440"/>
            <a:ext cx="502920" cy="502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233172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2400" b="1" dirty="0">
                <a:solidFill>
                  <a:srgbClr val="33404F"/>
                </a:solidFill>
              </a:rPr>
              <a:t>What AI does not change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3200400"/>
            <a:ext cx="6446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800" b="1" dirty="0">
                <a:solidFill>
                  <a:srgbClr val="1B2A41"/>
                </a:solidFill>
              </a:rPr>
              <a:t>Unsolvable stays unsolvable. </a:t>
            </a:r>
            <a:pPr rtl="0" algn="l" indent="0" marL="0">
              <a:buNone/>
            </a:pPr>
            <a:r>
              <a:rPr lang="en-US" sz="1800" dirty="0">
                <a:solidFill>
                  <a:srgbClr val="1B2A41"/>
                </a:solidFill>
              </a:rPr>
              <a:t>No tool decides halting for every program.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4434840"/>
            <a:ext cx="6446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800" b="1" dirty="0">
                <a:solidFill>
                  <a:srgbClr val="1B2A41"/>
                </a:solidFill>
              </a:rPr>
              <a:t>Hard stays hard. </a:t>
            </a:r>
            <a:pPr rtl="0" algn="l" indent="0" marL="0">
              <a:buNone/>
            </a:pPr>
            <a:r>
              <a:rPr lang="en-US" sz="1800" dirty="0">
                <a:solidFill>
                  <a:srgbClr val="1B2A41"/>
                </a:solidFill>
              </a:rPr>
              <a:t>AI may find good answers to NP-hard problems — not guaranteed-best ones, fast.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5669280"/>
            <a:ext cx="6446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800" b="1" dirty="0">
                <a:solidFill>
                  <a:srgbClr val="1B2A41"/>
                </a:solidFill>
              </a:rPr>
              <a:t>n² stays n². </a:t>
            </a:r>
            <a:pPr rtl="0" algn="l" indent="0" marL="0">
              <a:buNone/>
            </a:pPr>
            <a:r>
              <a:rPr lang="en-US" sz="1800" dirty="0">
                <a:solidFill>
                  <a:srgbClr val="1B2A41"/>
                </a:solidFill>
              </a:rPr>
              <a:t>Code written in seconds still runs at its own complexity.</a:t>
            </a:r>
            <a:endParaRPr lang="en-US" sz="1800" dirty="0"/>
          </a:p>
        </p:txBody>
      </p:sp>
      <p:sp>
        <p:nvSpPr>
          <p:cNvPr id="12" name="What AI does change"/>
          <p:cNvSpPr/>
          <p:nvPr/>
        </p:nvSpPr>
        <p:spPr>
          <a:xfrm>
            <a:off x="8321040" y="2103120"/>
            <a:ext cx="7223760" cy="4937760"/>
          </a:xfrm>
          <a:prstGeom prst="roundRect">
            <a:avLst>
              <a:gd name="adj" fmla="val 2778"/>
            </a:avLst>
          </a:prstGeom>
          <a:solidFill>
            <a:srgbClr val="6C5BA8">
              <a:alpha val="10000"/>
            </a:srgbClr>
          </a:solidFill>
          <a:ln w="12700">
            <a:solidFill>
              <a:srgbClr val="F1F5F7"/>
            </a:solidFill>
            <a:prstDash val="solid"/>
          </a:ln>
        </p:spPr>
      </p:sp>
      <p:pic>
        <p:nvPicPr>
          <p:cNvPr id="13" name="What AI does change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237744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372600" y="233172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2400" b="1" dirty="0">
                <a:solidFill>
                  <a:srgbClr val="6C5BA8"/>
                </a:solidFill>
              </a:rPr>
              <a:t>What AI does change</a:t>
            </a:r>
            <a:endParaRPr lang="en-US" sz="2400" dirty="0"/>
          </a:p>
        </p:txBody>
      </p:sp>
      <p:sp>
        <p:nvSpPr>
          <p:cNvPr id="15" name="Text 10"/>
          <p:cNvSpPr txBox="1"/>
          <p:nvPr/>
        </p:nvSpPr>
        <p:spPr>
          <a:xfrm>
            <a:off x="8732520" y="3200400"/>
            <a:ext cx="6446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800" b="1" dirty="0">
                <a:solidFill>
                  <a:srgbClr val="1B2A41"/>
                </a:solidFill>
              </a:rPr>
              <a:t>Who writes the code, </a:t>
            </a:r>
            <a:pPr rtl="0" algn="l" indent="0" marL="0">
              <a:buNone/>
            </a:pPr>
            <a:r>
              <a:rPr lang="en-US" sz="1800" dirty="0">
                <a:solidFill>
                  <a:srgbClr val="1B2A41"/>
                </a:solidFill>
              </a:rPr>
              <a:t>and how fast a first draft appears.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8732520" y="4434840"/>
            <a:ext cx="6446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800" b="1" dirty="0">
                <a:solidFill>
                  <a:srgbClr val="1B2A41"/>
                </a:solidFill>
              </a:rPr>
              <a:t>What is required of you: </a:t>
            </a:r>
            <a:pPr rtl="0" algn="l" indent="0" marL="0">
              <a:buNone/>
            </a:pPr>
            <a:r>
              <a:rPr lang="en-US" sz="1800" dirty="0">
                <a:solidFill>
                  <a:srgbClr val="1B2A41"/>
                </a:solidFill>
              </a:rPr>
              <a:t>precise specification, reading, testing, judging cost.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732520" y="5669280"/>
            <a:ext cx="6446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800" b="1" dirty="0">
                <a:solidFill>
                  <a:srgbClr val="1B2A41"/>
                </a:solidFill>
              </a:rPr>
              <a:t>What is practical: </a:t>
            </a:r>
            <a:pPr rtl="0" algn="l" indent="0" marL="0">
              <a:buNone/>
            </a:pPr>
            <a:r>
              <a:rPr lang="en-US" sz="1800" dirty="0">
                <a:solidFill>
                  <a:srgbClr val="1B2A41"/>
                </a:solidFill>
              </a:rPr>
              <a:t>learned approximations (e.g., AlphaFold) give useful answers in many real cases — with confidence scores you must check.</a:t>
            </a:r>
            <a:endParaRPr lang="en-US" sz="1800" dirty="0"/>
          </a:p>
        </p:txBody>
      </p:sp>
      <p:sp>
        <p:nvSpPr>
          <p:cNvPr id="18" name="verdict"/>
          <p:cNvSpPr/>
          <p:nvPr/>
        </p:nvSpPr>
        <p:spPr>
          <a:xfrm>
            <a:off x="731520" y="7315200"/>
            <a:ext cx="14813280" cy="960120"/>
          </a:xfrm>
          <a:prstGeom prst="roundRect">
            <a:avLst>
              <a:gd name="adj" fmla="val 14286"/>
            </a:avLst>
          </a:prstGeom>
          <a:solidFill>
            <a:srgbClr val="6C5BA8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1097280" y="7315200"/>
            <a:ext cx="1408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AI moves the line of what is practical — not the line of what is possible.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4813280" y="8549640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33404F"/>
                </a:solidFill>
              </a:defRPr>
            </a:lvl1pPr>
          </a:lstStyle>
          <a:p>
            <a:pPr rtl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868680"/>
            <a:ext cx="1481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3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roadmap: 13 lessons</a:t>
            </a:r>
            <a:endParaRPr lang="en-US" sz="3800" dirty="0"/>
          </a:p>
        </p:txBody>
      </p:sp>
      <p:sp>
        <p:nvSpPr>
          <p:cNvPr id="3" name="AI zone"/>
          <p:cNvSpPr/>
          <p:nvPr/>
        </p:nvSpPr>
        <p:spPr>
          <a:xfrm>
            <a:off x="10986868" y="2057400"/>
            <a:ext cx="4557932" cy="457200"/>
          </a:xfrm>
          <a:prstGeom prst="rect">
            <a:avLst/>
          </a:prstGeom>
          <a:solidFill>
            <a:srgbClr val="D98A1F">
              <a:alpha val="20000"/>
            </a:srgbClr>
          </a:solidFill>
          <a:ln w="12700">
            <a:solidFill>
              <a:srgbClr val="D98A1F">
                <a:alpha val="2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86868" y="2057400"/>
            <a:ext cx="45579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500" b="1" dirty="0">
                <a:solidFill>
                  <a:srgbClr val="1B2A41"/>
                </a:solidFill>
              </a:rPr>
              <a:t>AI tools in use</a:t>
            </a:r>
            <a:endParaRPr lang="en-US" sz="1500" dirty="0"/>
          </a:p>
        </p:txBody>
      </p:sp>
      <p:sp>
        <p:nvSpPr>
          <p:cNvPr id="5" name="timeline"/>
          <p:cNvSpPr/>
          <p:nvPr/>
        </p:nvSpPr>
        <p:spPr>
          <a:xfrm>
            <a:off x="1301262" y="3108960"/>
            <a:ext cx="13673797" cy="0"/>
          </a:xfrm>
          <a:prstGeom prst="line">
            <a:avLst/>
          </a:prstGeom>
          <a:noFill/>
          <a:ln w="25400">
            <a:solidFill>
              <a:srgbClr val="B8C4CE"/>
            </a:solidFill>
            <a:prstDash val="solid"/>
          </a:ln>
        </p:spPr>
      </p:sp>
      <p:sp>
        <p:nvSpPr>
          <p:cNvPr id="6" name="lesson 1"/>
          <p:cNvSpPr/>
          <p:nvPr/>
        </p:nvSpPr>
        <p:spPr>
          <a:xfrm>
            <a:off x="935502" y="2743200"/>
            <a:ext cx="731520" cy="731520"/>
          </a:xfrm>
          <a:prstGeom prst="ellipse">
            <a:avLst/>
          </a:prstGeom>
          <a:solidFill>
            <a:srgbClr val="1B2A4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5502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lesson 2"/>
          <p:cNvSpPr/>
          <p:nvPr/>
        </p:nvSpPr>
        <p:spPr>
          <a:xfrm>
            <a:off x="2074985" y="2743200"/>
            <a:ext cx="731520" cy="731520"/>
          </a:xfrm>
          <a:prstGeom prst="ellipse">
            <a:avLst/>
          </a:prstGeom>
          <a:solidFill>
            <a:srgbClr val="1B2A4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74985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lesson 3"/>
          <p:cNvSpPr/>
          <p:nvPr/>
        </p:nvSpPr>
        <p:spPr>
          <a:xfrm>
            <a:off x="3214468" y="2743200"/>
            <a:ext cx="731520" cy="731520"/>
          </a:xfrm>
          <a:prstGeom prst="ellipse">
            <a:avLst/>
          </a:prstGeom>
          <a:solidFill>
            <a:srgbClr val="1B2A4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14468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2" name="HW 1 marker"/>
          <p:cNvSpPr/>
          <p:nvPr/>
        </p:nvSpPr>
        <p:spPr>
          <a:xfrm>
            <a:off x="3031588" y="365760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31588" y="36576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HW 1</a:t>
            </a:r>
            <a:endParaRPr lang="en-US" sz="1400" dirty="0"/>
          </a:p>
        </p:txBody>
      </p:sp>
      <p:sp>
        <p:nvSpPr>
          <p:cNvPr id="14" name="lesson 4"/>
          <p:cNvSpPr/>
          <p:nvPr/>
        </p:nvSpPr>
        <p:spPr>
          <a:xfrm>
            <a:off x="4353951" y="2743200"/>
            <a:ext cx="731520" cy="731520"/>
          </a:xfrm>
          <a:prstGeom prst="ellipse">
            <a:avLst/>
          </a:prstGeom>
          <a:solidFill>
            <a:srgbClr val="1B2A4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53951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6" name="lesson 5"/>
          <p:cNvSpPr/>
          <p:nvPr/>
        </p:nvSpPr>
        <p:spPr>
          <a:xfrm>
            <a:off x="5493434" y="2743200"/>
            <a:ext cx="731520" cy="731520"/>
          </a:xfrm>
          <a:prstGeom prst="ellipse">
            <a:avLst/>
          </a:prstGeom>
          <a:solidFill>
            <a:srgbClr val="1B2A4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93434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18" name="HW 2 marker"/>
          <p:cNvSpPr/>
          <p:nvPr/>
        </p:nvSpPr>
        <p:spPr>
          <a:xfrm>
            <a:off x="5310554" y="365760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10554" y="36576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HW 2</a:t>
            </a:r>
            <a:endParaRPr lang="en-US" sz="1400" dirty="0"/>
          </a:p>
        </p:txBody>
      </p:sp>
      <p:sp>
        <p:nvSpPr>
          <p:cNvPr id="20" name="lesson 6"/>
          <p:cNvSpPr/>
          <p:nvPr/>
        </p:nvSpPr>
        <p:spPr>
          <a:xfrm>
            <a:off x="6632917" y="2743200"/>
            <a:ext cx="731520" cy="731520"/>
          </a:xfrm>
          <a:prstGeom prst="ellipse">
            <a:avLst/>
          </a:prstGeom>
          <a:solidFill>
            <a:srgbClr val="1B2A4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32917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22" name="lesson 7"/>
          <p:cNvSpPr/>
          <p:nvPr/>
        </p:nvSpPr>
        <p:spPr>
          <a:xfrm>
            <a:off x="7772400" y="2743200"/>
            <a:ext cx="731520" cy="731520"/>
          </a:xfrm>
          <a:prstGeom prst="ellipse">
            <a:avLst/>
          </a:prstGeom>
          <a:solidFill>
            <a:srgbClr val="1B2A4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7</a:t>
            </a:r>
            <a:endParaRPr lang="en-US" sz="2000" dirty="0"/>
          </a:p>
        </p:txBody>
      </p:sp>
      <p:sp>
        <p:nvSpPr>
          <p:cNvPr id="24" name="HW 3 marker"/>
          <p:cNvSpPr/>
          <p:nvPr/>
        </p:nvSpPr>
        <p:spPr>
          <a:xfrm>
            <a:off x="7589520" y="365760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89520" y="36576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HW 3</a:t>
            </a:r>
            <a:endParaRPr lang="en-US" sz="1400" dirty="0"/>
          </a:p>
        </p:txBody>
      </p:sp>
      <p:sp>
        <p:nvSpPr>
          <p:cNvPr id="26" name="lesson 8"/>
          <p:cNvSpPr/>
          <p:nvPr/>
        </p:nvSpPr>
        <p:spPr>
          <a:xfrm>
            <a:off x="8911883" y="2743200"/>
            <a:ext cx="731520" cy="731520"/>
          </a:xfrm>
          <a:prstGeom prst="ellipse">
            <a:avLst/>
          </a:prstGeom>
          <a:solidFill>
            <a:srgbClr val="1B2A4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911883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8</a:t>
            </a:r>
            <a:endParaRPr lang="en-US" sz="2000" dirty="0"/>
          </a:p>
        </p:txBody>
      </p:sp>
      <p:sp>
        <p:nvSpPr>
          <p:cNvPr id="28" name="lesson 9"/>
          <p:cNvSpPr/>
          <p:nvPr/>
        </p:nvSpPr>
        <p:spPr>
          <a:xfrm>
            <a:off x="10051366" y="2743200"/>
            <a:ext cx="731520" cy="731520"/>
          </a:xfrm>
          <a:prstGeom prst="ellipse">
            <a:avLst/>
          </a:prstGeom>
          <a:solidFill>
            <a:srgbClr val="1B2A4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051366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9</a:t>
            </a:r>
            <a:endParaRPr lang="en-US" sz="2000" dirty="0"/>
          </a:p>
        </p:txBody>
      </p:sp>
      <p:sp>
        <p:nvSpPr>
          <p:cNvPr id="30" name="Midterm marker"/>
          <p:cNvSpPr/>
          <p:nvPr/>
        </p:nvSpPr>
        <p:spPr>
          <a:xfrm>
            <a:off x="9868486" y="365760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C2452D"/>
          </a:solidFill>
          <a:ln w="12700">
            <a:solidFill>
              <a:srgbClr val="C2452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868486" y="36576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Midterm</a:t>
            </a:r>
            <a:endParaRPr lang="en-US" sz="1400" dirty="0"/>
          </a:p>
        </p:txBody>
      </p:sp>
      <p:sp>
        <p:nvSpPr>
          <p:cNvPr id="32" name="lesson 10"/>
          <p:cNvSpPr/>
          <p:nvPr/>
        </p:nvSpPr>
        <p:spPr>
          <a:xfrm>
            <a:off x="11190849" y="2743200"/>
            <a:ext cx="731520" cy="731520"/>
          </a:xfrm>
          <a:prstGeom prst="ellipse">
            <a:avLst/>
          </a:prstGeom>
          <a:solidFill>
            <a:srgbClr val="1B2A4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1190849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10</a:t>
            </a:r>
            <a:endParaRPr lang="en-US" sz="2000" dirty="0"/>
          </a:p>
        </p:txBody>
      </p:sp>
      <p:sp>
        <p:nvSpPr>
          <p:cNvPr id="34" name="HW 4 marker"/>
          <p:cNvSpPr/>
          <p:nvPr/>
        </p:nvSpPr>
        <p:spPr>
          <a:xfrm>
            <a:off x="11007969" y="365760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1007969" y="36576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HW 4</a:t>
            </a:r>
            <a:endParaRPr lang="en-US" sz="1400" dirty="0"/>
          </a:p>
        </p:txBody>
      </p:sp>
      <p:sp>
        <p:nvSpPr>
          <p:cNvPr id="36" name="lesson 11"/>
          <p:cNvSpPr/>
          <p:nvPr/>
        </p:nvSpPr>
        <p:spPr>
          <a:xfrm>
            <a:off x="12330332" y="2743200"/>
            <a:ext cx="731520" cy="731520"/>
          </a:xfrm>
          <a:prstGeom prst="ellipse">
            <a:avLst/>
          </a:prstGeom>
          <a:solidFill>
            <a:srgbClr val="1B2A4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2330332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11</a:t>
            </a:r>
            <a:endParaRPr lang="en-US" sz="2000" dirty="0"/>
          </a:p>
        </p:txBody>
      </p:sp>
      <p:sp>
        <p:nvSpPr>
          <p:cNvPr id="38" name="lesson 12"/>
          <p:cNvSpPr/>
          <p:nvPr/>
        </p:nvSpPr>
        <p:spPr>
          <a:xfrm>
            <a:off x="13469815" y="2743200"/>
            <a:ext cx="731520" cy="731520"/>
          </a:xfrm>
          <a:prstGeom prst="ellipse">
            <a:avLst/>
          </a:prstGeom>
          <a:solidFill>
            <a:srgbClr val="1B2A4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3469815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12</a:t>
            </a:r>
            <a:endParaRPr lang="en-US" sz="2000" dirty="0"/>
          </a:p>
        </p:txBody>
      </p:sp>
      <p:sp>
        <p:nvSpPr>
          <p:cNvPr id="40" name="HW 5 marker"/>
          <p:cNvSpPr/>
          <p:nvPr/>
        </p:nvSpPr>
        <p:spPr>
          <a:xfrm>
            <a:off x="13286935" y="365760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3286935" y="36576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HW 5</a:t>
            </a:r>
            <a:endParaRPr lang="en-US" sz="1400" dirty="0"/>
          </a:p>
        </p:txBody>
      </p:sp>
      <p:sp>
        <p:nvSpPr>
          <p:cNvPr id="42" name="lesson 13"/>
          <p:cNvSpPr/>
          <p:nvPr/>
        </p:nvSpPr>
        <p:spPr>
          <a:xfrm>
            <a:off x="14609298" y="2743200"/>
            <a:ext cx="731520" cy="731520"/>
          </a:xfrm>
          <a:prstGeom prst="ellipse">
            <a:avLst/>
          </a:prstGeom>
          <a:solidFill>
            <a:srgbClr val="1B2A4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4609298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13</a:t>
            </a:r>
            <a:endParaRPr lang="en-US" sz="2000" dirty="0"/>
          </a:p>
        </p:txBody>
      </p:sp>
      <p:sp>
        <p:nvSpPr>
          <p:cNvPr id="44" name="Python &amp; readable code module"/>
          <p:cNvSpPr/>
          <p:nvPr/>
        </p:nvSpPr>
        <p:spPr>
          <a:xfrm>
            <a:off x="731520" y="4572000"/>
            <a:ext cx="2240280" cy="3520440"/>
          </a:xfrm>
          <a:prstGeom prst="roundRect">
            <a:avLst>
              <a:gd name="adj" fmla="val 6122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68680" y="4754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500" b="1" dirty="0">
                <a:solidFill>
                  <a:srgbClr val="33404F"/>
                </a:solidFill>
              </a:rPr>
              <a:t>Lessons 1–4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868680" y="512064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2000" b="1" dirty="0">
                <a:solidFill>
                  <a:srgbClr val="1B2A41"/>
                </a:solidFill>
              </a:rPr>
              <a:t>Python &amp; readable code</a:t>
            </a:r>
            <a:endParaRPr lang="en-US" sz="2000" dirty="0"/>
          </a:p>
        </p:txBody>
      </p:sp>
      <p:sp>
        <p:nvSpPr>
          <p:cNvPr id="47" name="Text 45"/>
          <p:cNvSpPr txBox="1"/>
          <p:nvPr/>
        </p:nvSpPr>
        <p:spPr>
          <a:xfrm>
            <a:off x="868680" y="626364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600" dirty="0">
                <a:solidFill>
                  <a:srgbClr val="33404F"/>
                </a:solidFill>
              </a:rPr>
              <a:t>variables, control, collections, files, comprehensions</a:t>
            </a:r>
            <a:endParaRPr lang="en-US" sz="1600" dirty="0"/>
          </a:p>
        </p:txBody>
      </p:sp>
      <p:sp>
        <p:nvSpPr>
          <p:cNvPr id="48" name="Efficiency module"/>
          <p:cNvSpPr/>
          <p:nvPr/>
        </p:nvSpPr>
        <p:spPr>
          <a:xfrm>
            <a:off x="3246120" y="4572000"/>
            <a:ext cx="2240280" cy="3520440"/>
          </a:xfrm>
          <a:prstGeom prst="roundRect">
            <a:avLst>
              <a:gd name="adj" fmla="val 6122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383280" y="4754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500" b="1" dirty="0">
                <a:solidFill>
                  <a:srgbClr val="33404F"/>
                </a:solidFill>
              </a:rPr>
              <a:t>Lesson 5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3383280" y="512064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2000" b="1" dirty="0">
                <a:solidFill>
                  <a:srgbClr val="1B2A41"/>
                </a:solidFill>
              </a:rPr>
              <a:t>Efficiency</a:t>
            </a:r>
            <a:endParaRPr lang="en-US" sz="2000" dirty="0"/>
          </a:p>
        </p:txBody>
      </p:sp>
      <p:sp>
        <p:nvSpPr>
          <p:cNvPr id="51" name="Text 49"/>
          <p:cNvSpPr txBox="1"/>
          <p:nvPr/>
        </p:nvSpPr>
        <p:spPr>
          <a:xfrm>
            <a:off x="3383280" y="626364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600" dirty="0">
                <a:solidFill>
                  <a:srgbClr val="33404F"/>
                </a:solidFill>
              </a:rPr>
              <a:t>time &amp; memory complexity</a:t>
            </a:r>
            <a:endParaRPr lang="en-US" sz="1600" dirty="0"/>
          </a:p>
        </p:txBody>
      </p:sp>
      <p:sp>
        <p:nvSpPr>
          <p:cNvPr id="52" name="Sequences module"/>
          <p:cNvSpPr/>
          <p:nvPr/>
        </p:nvSpPr>
        <p:spPr>
          <a:xfrm>
            <a:off x="5760720" y="4572000"/>
            <a:ext cx="2240280" cy="3520440"/>
          </a:xfrm>
          <a:prstGeom prst="roundRect">
            <a:avLst>
              <a:gd name="adj" fmla="val 6122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897880" y="4754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500" b="1" dirty="0">
                <a:solidFill>
                  <a:srgbClr val="33404F"/>
                </a:solidFill>
              </a:rPr>
              <a:t>Lessons 6–7</a:t>
            </a:r>
            <a:endParaRPr lang="en-US" sz="1500" dirty="0"/>
          </a:p>
        </p:txBody>
      </p:sp>
      <p:sp>
        <p:nvSpPr>
          <p:cNvPr id="54" name="Text 52"/>
          <p:cNvSpPr txBox="1"/>
          <p:nvPr/>
        </p:nvSpPr>
        <p:spPr>
          <a:xfrm>
            <a:off x="5897880" y="512064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2000" b="1" dirty="0">
                <a:solidFill>
                  <a:srgbClr val="1B2A41"/>
                </a:solidFill>
              </a:rPr>
              <a:t>Sequences</a:t>
            </a:r>
            <a:endParaRPr lang="en-US" sz="2000" dirty="0"/>
          </a:p>
        </p:txBody>
      </p:sp>
      <p:sp>
        <p:nvSpPr>
          <p:cNvPr id="55" name="Text 53"/>
          <p:cNvSpPr txBox="1"/>
          <p:nvPr/>
        </p:nvSpPr>
        <p:spPr>
          <a:xfrm>
            <a:off x="5897880" y="626364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600" dirty="0">
                <a:solidFill>
                  <a:srgbClr val="33404F"/>
                </a:solidFill>
              </a:rPr>
              <a:t>hashing, regular expressions, DNA motifs</a:t>
            </a:r>
            <a:endParaRPr lang="en-US" sz="1600" dirty="0"/>
          </a:p>
        </p:txBody>
      </p:sp>
      <p:sp>
        <p:nvSpPr>
          <p:cNvPr id="56" name="Graphs &amp; networks module"/>
          <p:cNvSpPr/>
          <p:nvPr/>
        </p:nvSpPr>
        <p:spPr>
          <a:xfrm>
            <a:off x="8275320" y="4572000"/>
            <a:ext cx="2240280" cy="3520440"/>
          </a:xfrm>
          <a:prstGeom prst="roundRect">
            <a:avLst>
              <a:gd name="adj" fmla="val 6122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412480" y="4754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500" b="1" dirty="0">
                <a:solidFill>
                  <a:srgbClr val="33404F"/>
                </a:solidFill>
              </a:rPr>
              <a:t>Lessons 8–10</a:t>
            </a:r>
            <a:endParaRPr lang="en-US" sz="1500" dirty="0"/>
          </a:p>
        </p:txBody>
      </p:sp>
      <p:sp>
        <p:nvSpPr>
          <p:cNvPr id="58" name="Text 56"/>
          <p:cNvSpPr txBox="1"/>
          <p:nvPr/>
        </p:nvSpPr>
        <p:spPr>
          <a:xfrm>
            <a:off x="8412480" y="512064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2000" b="1" dirty="0">
                <a:solidFill>
                  <a:srgbClr val="1B2A41"/>
                </a:solidFill>
              </a:rPr>
              <a:t>Graphs &amp; networks</a:t>
            </a:r>
            <a:endParaRPr lang="en-US" sz="2000" dirty="0"/>
          </a:p>
        </p:txBody>
      </p:sp>
      <p:sp>
        <p:nvSpPr>
          <p:cNvPr id="59" name="Text 57"/>
          <p:cNvSpPr txBox="1"/>
          <p:nvPr/>
        </p:nvSpPr>
        <p:spPr>
          <a:xfrm>
            <a:off x="8412480" y="626364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600" dirty="0">
                <a:solidFill>
                  <a:srgbClr val="33404F"/>
                </a:solidFill>
              </a:rPr>
              <a:t>BFS, shortest paths, network simulation</a:t>
            </a:r>
            <a:endParaRPr lang="en-US" sz="1600" dirty="0"/>
          </a:p>
        </p:txBody>
      </p:sp>
      <p:sp>
        <p:nvSpPr>
          <p:cNvPr id="60" name="Images module"/>
          <p:cNvSpPr/>
          <p:nvPr/>
        </p:nvSpPr>
        <p:spPr>
          <a:xfrm>
            <a:off x="10789920" y="4572000"/>
            <a:ext cx="2240280" cy="3520440"/>
          </a:xfrm>
          <a:prstGeom prst="roundRect">
            <a:avLst>
              <a:gd name="adj" fmla="val 6122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10927080" y="4754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500" b="1" dirty="0">
                <a:solidFill>
                  <a:srgbClr val="33404F"/>
                </a:solidFill>
              </a:rPr>
              <a:t>Lessons 11–12</a:t>
            </a:r>
            <a:endParaRPr lang="en-US" sz="1500" dirty="0"/>
          </a:p>
        </p:txBody>
      </p:sp>
      <p:sp>
        <p:nvSpPr>
          <p:cNvPr id="62" name="Text 60"/>
          <p:cNvSpPr txBox="1"/>
          <p:nvPr/>
        </p:nvSpPr>
        <p:spPr>
          <a:xfrm>
            <a:off x="10927080" y="512064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2000" b="1" dirty="0">
                <a:solidFill>
                  <a:srgbClr val="1B2A41"/>
                </a:solidFill>
              </a:rPr>
              <a:t>Images</a:t>
            </a:r>
            <a:endParaRPr lang="en-US" sz="2000" dirty="0"/>
          </a:p>
        </p:txBody>
      </p:sp>
      <p:sp>
        <p:nvSpPr>
          <p:cNvPr id="63" name="Text 61"/>
          <p:cNvSpPr txBox="1"/>
          <p:nvPr/>
        </p:nvSpPr>
        <p:spPr>
          <a:xfrm>
            <a:off x="10927080" y="626364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600" dirty="0">
                <a:solidFill>
                  <a:srgbClr val="33404F"/>
                </a:solidFill>
              </a:rPr>
              <a:t>memory of images, cell counting, code review</a:t>
            </a:r>
            <a:endParaRPr lang="en-US" sz="1600" dirty="0"/>
          </a:p>
        </p:txBody>
      </p:sp>
      <p:sp>
        <p:nvSpPr>
          <p:cNvPr id="64" name="Limits module"/>
          <p:cNvSpPr/>
          <p:nvPr/>
        </p:nvSpPr>
        <p:spPr>
          <a:xfrm>
            <a:off x="13304520" y="4572000"/>
            <a:ext cx="2240280" cy="3520440"/>
          </a:xfrm>
          <a:prstGeom prst="roundRect">
            <a:avLst>
              <a:gd name="adj" fmla="val 6122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3441680" y="4754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500" b="1" dirty="0">
                <a:solidFill>
                  <a:srgbClr val="33404F"/>
                </a:solidFill>
              </a:rPr>
              <a:t>Lesson 13</a:t>
            </a:r>
            <a:endParaRPr lang="en-US" sz="1500" dirty="0"/>
          </a:p>
        </p:txBody>
      </p:sp>
      <p:sp>
        <p:nvSpPr>
          <p:cNvPr id="66" name="Text 64"/>
          <p:cNvSpPr txBox="1"/>
          <p:nvPr/>
        </p:nvSpPr>
        <p:spPr>
          <a:xfrm>
            <a:off x="13441680" y="512064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2000" b="1" dirty="0">
                <a:solidFill>
                  <a:srgbClr val="1B2A41"/>
                </a:solidFill>
              </a:rPr>
              <a:t>Limits</a:t>
            </a:r>
            <a:endParaRPr lang="en-US" sz="2000" dirty="0"/>
          </a:p>
        </p:txBody>
      </p:sp>
      <p:sp>
        <p:nvSpPr>
          <p:cNvPr id="67" name="Text 65"/>
          <p:cNvSpPr txBox="1"/>
          <p:nvPr/>
        </p:nvSpPr>
        <p:spPr>
          <a:xfrm>
            <a:off x="13441680" y="626364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600" dirty="0">
                <a:solidFill>
                  <a:srgbClr val="33404F"/>
                </a:solidFill>
              </a:rPr>
              <a:t>unsolvable, NP-hard, computation today</a:t>
            </a:r>
            <a:endParaRPr lang="en-US" sz="1600" dirty="0"/>
          </a:p>
        </p:txBody>
      </p:sp>
      <p:pic>
        <p:nvPicPr>
          <p:cNvPr id="68" name="Q2 ta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7589520"/>
            <a:ext cx="320040" cy="320040"/>
          </a:xfrm>
          <a:prstGeom prst="rect">
            <a:avLst/>
          </a:prstGeom>
        </p:spPr>
      </p:pic>
      <p:pic>
        <p:nvPicPr>
          <p:cNvPr id="69" name="Q3 ta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7589520"/>
            <a:ext cx="320040" cy="320040"/>
          </a:xfrm>
          <a:prstGeom prst="rect">
            <a:avLst/>
          </a:prstGeom>
        </p:spPr>
      </p:pic>
      <p:pic>
        <p:nvPicPr>
          <p:cNvPr id="70" name="Q3 ta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7589520"/>
            <a:ext cx="320040" cy="320040"/>
          </a:xfrm>
          <a:prstGeom prst="rect">
            <a:avLst/>
          </a:prstGeom>
        </p:spPr>
      </p:pic>
      <p:pic>
        <p:nvPicPr>
          <p:cNvPr id="71" name="Q3 ta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7589520"/>
            <a:ext cx="320040" cy="320040"/>
          </a:xfrm>
          <a:prstGeom prst="rect">
            <a:avLst/>
          </a:prstGeom>
        </p:spPr>
      </p:pic>
      <p:pic>
        <p:nvPicPr>
          <p:cNvPr id="72" name="Q3 tag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7080" y="7589520"/>
            <a:ext cx="320040" cy="320040"/>
          </a:xfrm>
          <a:prstGeom prst="rect">
            <a:avLst/>
          </a:prstGeom>
        </p:spPr>
      </p:pic>
      <p:pic>
        <p:nvPicPr>
          <p:cNvPr id="73" name="Q5 tag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38560" y="7589520"/>
            <a:ext cx="320040" cy="320040"/>
          </a:xfrm>
          <a:prstGeom prst="rect">
            <a:avLst/>
          </a:prstGeom>
        </p:spPr>
      </p:pic>
      <p:pic>
        <p:nvPicPr>
          <p:cNvPr id="74" name="Q4 tag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41680" y="7589520"/>
            <a:ext cx="320040" cy="320040"/>
          </a:xfrm>
          <a:prstGeom prst="rect">
            <a:avLst/>
          </a:prstGeom>
        </p:spPr>
      </p:pic>
      <p:pic>
        <p:nvPicPr>
          <p:cNvPr id="75" name="Q6 tag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53160" y="7589520"/>
            <a:ext cx="320040" cy="320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4813280" y="8549640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33404F"/>
                </a:solidFill>
              </a:defRPr>
            </a:lvl1pPr>
          </a:lstStyle>
          <a:p>
            <a:pPr rtl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868680"/>
            <a:ext cx="1481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3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</a:t>
            </a:r>
            <a:endParaRPr lang="en-US" sz="3800" dirty="0"/>
          </a:p>
        </p:txBody>
      </p:sp>
      <p:sp>
        <p:nvSpPr>
          <p:cNvPr id="3" name="Homework card"/>
          <p:cNvSpPr/>
          <p:nvPr/>
        </p:nvSpPr>
        <p:spPr>
          <a:xfrm>
            <a:off x="731520" y="2103120"/>
            <a:ext cx="4636008" cy="5989320"/>
          </a:xfrm>
          <a:prstGeom prst="roundRect">
            <a:avLst>
              <a:gd name="adj" fmla="val 2959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2331720"/>
            <a:ext cx="39044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58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58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3566160"/>
            <a:ext cx="3904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2400" b="1" dirty="0">
                <a:solidFill>
                  <a:srgbClr val="1B2A41"/>
                </a:solidFill>
              </a:rPr>
              <a:t>Homework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4251960"/>
            <a:ext cx="399592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41"/>
                </a:solidFill>
              </a:rPr>
              <a:t>5 assignments</a:t>
            </a:r>
            <a:endParaRPr lang="en-US" sz="1700" dirty="0"/>
          </a:p>
          <a:p>
            <a:pPr rtl="0"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41"/>
                </a:solidFill>
              </a:rPr>
              <a:t>HW 1–4 without AI</a:t>
            </a:r>
            <a:endParaRPr lang="en-US" sz="1700" dirty="0"/>
          </a:p>
          <a:p>
            <a:pPr rtl="0"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41"/>
                </a:solidFill>
              </a:rPr>
              <a:t>HW 2: time &amp; memory</a:t>
            </a:r>
            <a:endParaRPr lang="en-US" sz="1700" dirty="0"/>
          </a:p>
          <a:p>
            <a:pPr rtl="0"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41"/>
                </a:solidFill>
              </a:rPr>
              <a:t>HW 5: code review — find errors and wasted resources</a:t>
            </a:r>
            <a:endParaRPr lang="en-US" sz="1700" dirty="0"/>
          </a:p>
        </p:txBody>
      </p:sp>
      <p:sp>
        <p:nvSpPr>
          <p:cNvPr id="7" name="Midterm card"/>
          <p:cNvSpPr/>
          <p:nvPr/>
        </p:nvSpPr>
        <p:spPr>
          <a:xfrm>
            <a:off x="5733288" y="2103120"/>
            <a:ext cx="4636008" cy="5989320"/>
          </a:xfrm>
          <a:prstGeom prst="roundRect">
            <a:avLst>
              <a:gd name="adj" fmla="val 2959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99048" y="2331720"/>
            <a:ext cx="39044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5800" b="1" dirty="0">
                <a:solidFill>
                  <a:srgbClr val="2F6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5800" dirty="0"/>
          </a:p>
        </p:txBody>
      </p:sp>
      <p:sp>
        <p:nvSpPr>
          <p:cNvPr id="9" name="Text 7"/>
          <p:cNvSpPr txBox="1"/>
          <p:nvPr/>
        </p:nvSpPr>
        <p:spPr>
          <a:xfrm>
            <a:off x="6099048" y="3566160"/>
            <a:ext cx="3904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2400" b="1" dirty="0">
                <a:solidFill>
                  <a:srgbClr val="1B2A41"/>
                </a:solidFill>
              </a:rPr>
              <a:t>Midterm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099048" y="4251960"/>
            <a:ext cx="399592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41"/>
                </a:solidFill>
              </a:rPr>
              <a:t>Written, lesson 9 (material of lessons 1–8)</a:t>
            </a:r>
            <a:endParaRPr lang="en-US" sz="1700" dirty="0"/>
          </a:p>
          <a:p>
            <a:pPr rtl="0"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41"/>
                </a:solidFill>
              </a:rPr>
              <a:t>Protective: counts only if it helps your grade</a:t>
            </a:r>
            <a:endParaRPr lang="en-US" sz="1700" dirty="0"/>
          </a:p>
          <a:p>
            <a:pPr rtl="0"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41"/>
                </a:solidFill>
              </a:rPr>
              <a:t>No make-up (מועד ב׳) for the midterm</a:t>
            </a:r>
            <a:endParaRPr lang="en-US" sz="1700" dirty="0"/>
          </a:p>
        </p:txBody>
      </p:sp>
      <p:sp>
        <p:nvSpPr>
          <p:cNvPr id="11" name="Final exam card"/>
          <p:cNvSpPr/>
          <p:nvPr/>
        </p:nvSpPr>
        <p:spPr>
          <a:xfrm>
            <a:off x="10735056" y="2103120"/>
            <a:ext cx="4636008" cy="5989320"/>
          </a:xfrm>
          <a:prstGeom prst="roundRect">
            <a:avLst>
              <a:gd name="adj" fmla="val 2959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00816" y="2331720"/>
            <a:ext cx="39044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5800" b="1" dirty="0">
                <a:solidFill>
                  <a:srgbClr val="C24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65–75%</a:t>
            </a:r>
            <a:endParaRPr lang="en-US" sz="5800" dirty="0"/>
          </a:p>
        </p:txBody>
      </p:sp>
      <p:sp>
        <p:nvSpPr>
          <p:cNvPr id="13" name="Text 11"/>
          <p:cNvSpPr txBox="1"/>
          <p:nvPr/>
        </p:nvSpPr>
        <p:spPr>
          <a:xfrm>
            <a:off x="11100816" y="3566160"/>
            <a:ext cx="3904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2400" b="1" dirty="0">
                <a:solidFill>
                  <a:srgbClr val="1B2A41"/>
                </a:solidFill>
              </a:rPr>
              <a:t>Final exam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1100816" y="4251960"/>
            <a:ext cx="399592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41"/>
                </a:solidFill>
              </a:rPr>
              <a:t>Written, multiple-choice and open questions</a:t>
            </a:r>
            <a:endParaRPr lang="en-US" sz="1700" dirty="0"/>
          </a:p>
          <a:p>
            <a:pPr rtl="0"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41"/>
                </a:solidFill>
              </a:rPr>
              <a:t>75% if it beats your midterm, 65% otherwise</a:t>
            </a:r>
            <a:endParaRPr lang="en-US" sz="1700" dirty="0"/>
          </a:p>
          <a:p>
            <a:pPr rtl="0"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41"/>
                </a:solidFill>
              </a:rPr>
              <a:t>Pass the exam with ≥ 60 and the course with ≥ 60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4813280" y="8549640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33404F"/>
                </a:solidFill>
              </a:defRPr>
            </a:lvl1pPr>
          </a:lstStyle>
          <a:p>
            <a:pPr rtl="0"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868680"/>
            <a:ext cx="1481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3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team and resources</a:t>
            </a:r>
            <a:endParaRPr lang="en-US" sz="3800" dirty="0"/>
          </a:p>
        </p:txBody>
      </p:sp>
      <p:sp>
        <p:nvSpPr>
          <p:cNvPr id="3" name="Team card"/>
          <p:cNvSpPr/>
          <p:nvPr/>
        </p:nvSpPr>
        <p:spPr>
          <a:xfrm>
            <a:off x="731520" y="2103120"/>
            <a:ext cx="4636008" cy="4937760"/>
          </a:xfrm>
          <a:prstGeom prst="roundRect">
            <a:avLst>
              <a:gd name="adj" fmla="val 2959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4" name="Team circle"/>
          <p:cNvSpPr/>
          <p:nvPr/>
        </p:nvSpPr>
        <p:spPr>
          <a:xfrm>
            <a:off x="1097280" y="2377440"/>
            <a:ext cx="822960" cy="82296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pic>
        <p:nvPicPr>
          <p:cNvPr id="5" name="Team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257860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103120" y="2377440"/>
            <a:ext cx="2990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2400" b="1" dirty="0">
                <a:solidFill>
                  <a:srgbClr val="1B2A41"/>
                </a:solidFill>
              </a:rPr>
              <a:t>Team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3520440"/>
            <a:ext cx="395020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spcAft>
                <a:spcPts val="1400"/>
              </a:spcAft>
              <a:buNone/>
            </a:pPr>
            <a:r>
              <a:rPr lang="en-US" sz="1900" b="1" dirty="0">
                <a:solidFill>
                  <a:srgbClr val="1B2A41"/>
                </a:solidFill>
              </a:rPr>
              <a:t>Lecturer: </a:t>
            </a:r>
            <a:pPr rtl="0" algn="l"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1B2A41"/>
                </a:solidFill>
              </a:rPr>
              <a:t>Dr. Arie Fouren · fourena@biu.ac.il</a:t>
            </a:r>
            <a:endParaRPr lang="en-US" sz="1900" dirty="0"/>
          </a:p>
          <a:p>
            <a:pPr rtl="0" algn="l" indent="0" marL="0">
              <a:spcAft>
                <a:spcPts val="1400"/>
              </a:spcAft>
              <a:buNone/>
            </a:pPr>
            <a:r>
              <a:rPr lang="en-US" sz="1900" b="1" dirty="0">
                <a:solidFill>
                  <a:srgbClr val="1B2A41"/>
                </a:solidFill>
              </a:rPr>
              <a:t>Office hours: </a:t>
            </a:r>
            <a:pPr rtl="0" algn="l"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1B2A41"/>
                </a:solidFill>
              </a:rPr>
              <a:t>Sunday 19:30–20:30, by appointment</a:t>
            </a:r>
            <a:endParaRPr lang="en-US" sz="1900" dirty="0"/>
          </a:p>
          <a:p>
            <a:pPr rtl="0" algn="l" indent="0" marL="0">
              <a:spcAft>
                <a:spcPts val="1400"/>
              </a:spcAft>
              <a:buNone/>
            </a:pPr>
            <a:r>
              <a:rPr lang="en-US" sz="1900" b="1" dirty="0">
                <a:solidFill>
                  <a:srgbClr val="1B2A41"/>
                </a:solidFill>
              </a:rPr>
              <a:t>Teaching assistant: </a:t>
            </a:r>
            <a:pPr rtl="0" algn="l"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1B2A41"/>
                </a:solidFill>
              </a:rPr>
              <a:t>Oren Polak (tutorial time to be announced)</a:t>
            </a:r>
            <a:endParaRPr lang="en-US" sz="1900" dirty="0"/>
          </a:p>
        </p:txBody>
      </p:sp>
      <p:sp>
        <p:nvSpPr>
          <p:cNvPr id="8" name="When &amp; where card"/>
          <p:cNvSpPr/>
          <p:nvPr/>
        </p:nvSpPr>
        <p:spPr>
          <a:xfrm>
            <a:off x="5733288" y="2103120"/>
            <a:ext cx="4636008" cy="4937760"/>
          </a:xfrm>
          <a:prstGeom prst="roundRect">
            <a:avLst>
              <a:gd name="adj" fmla="val 2959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9" name="When &amp; where circle"/>
          <p:cNvSpPr/>
          <p:nvPr/>
        </p:nvSpPr>
        <p:spPr>
          <a:xfrm>
            <a:off x="6099048" y="2377440"/>
            <a:ext cx="822960" cy="82296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pic>
        <p:nvPicPr>
          <p:cNvPr id="10" name="When &amp; wher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216" y="257860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04888" y="2377440"/>
            <a:ext cx="2990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2400" b="1" dirty="0">
                <a:solidFill>
                  <a:srgbClr val="1B2A41"/>
                </a:solidFill>
              </a:rPr>
              <a:t>When &amp; where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099048" y="3520440"/>
            <a:ext cx="395020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spcAft>
                <a:spcPts val="1400"/>
              </a:spcAft>
              <a:buNone/>
            </a:pPr>
            <a:r>
              <a:rPr lang="en-US" sz="1900" b="1" dirty="0">
                <a:solidFill>
                  <a:srgbClr val="1B2A41"/>
                </a:solidFill>
              </a:rPr>
              <a:t>Lecture: </a:t>
            </a:r>
            <a:pPr rtl="0" algn="l"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1B2A41"/>
                </a:solidFill>
              </a:rPr>
              <a:t>Sunday 17:00–19:30, Building 902, Room 201</a:t>
            </a:r>
            <a:endParaRPr lang="en-US" sz="1900" dirty="0"/>
          </a:p>
          <a:p>
            <a:pPr rtl="0" algn="l" indent="0" marL="0">
              <a:spcAft>
                <a:spcPts val="1400"/>
              </a:spcAft>
              <a:buNone/>
            </a:pPr>
            <a:r>
              <a:rPr lang="en-US" sz="1900" b="1" dirty="0">
                <a:solidFill>
                  <a:srgbClr val="1B2A41"/>
                </a:solidFill>
              </a:rPr>
              <a:t>Tutorial: </a:t>
            </a:r>
            <a:pPr rtl="0" algn="l"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1B2A41"/>
                </a:solidFill>
              </a:rPr>
              <a:t>2 hours weekly</a:t>
            </a:r>
            <a:endParaRPr lang="en-US" sz="1900" dirty="0"/>
          </a:p>
          <a:p>
            <a:pPr rtl="0" algn="l" indent="0" marL="0">
              <a:spcAft>
                <a:spcPts val="1400"/>
              </a:spcAft>
              <a:buNone/>
            </a:pPr>
            <a:r>
              <a:rPr lang="en-US" sz="1900" b="1" dirty="0">
                <a:solidFill>
                  <a:srgbClr val="1B2A41"/>
                </a:solidFill>
              </a:rPr>
              <a:t>Course site: </a:t>
            </a:r>
            <a:pPr rtl="0" algn="l"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1B2A41"/>
                </a:solidFill>
              </a:rPr>
              <a:t>Lemida (lemida.biu.ac.il)</a:t>
            </a:r>
            <a:endParaRPr lang="en-US" sz="1900" dirty="0"/>
          </a:p>
        </p:txBody>
      </p:sp>
      <p:sp>
        <p:nvSpPr>
          <p:cNvPr id="13" name="Reading card"/>
          <p:cNvSpPr/>
          <p:nvPr/>
        </p:nvSpPr>
        <p:spPr>
          <a:xfrm>
            <a:off x="10735056" y="2103120"/>
            <a:ext cx="4636008" cy="4937760"/>
          </a:xfrm>
          <a:prstGeom prst="roundRect">
            <a:avLst>
              <a:gd name="adj" fmla="val 2959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14" name="Reading circle"/>
          <p:cNvSpPr/>
          <p:nvPr/>
        </p:nvSpPr>
        <p:spPr>
          <a:xfrm>
            <a:off x="11100816" y="2377440"/>
            <a:ext cx="822960" cy="82296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pic>
        <p:nvPicPr>
          <p:cNvPr id="15" name="Reading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1984" y="257860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106656" y="2377440"/>
            <a:ext cx="2990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2400" b="1" dirty="0">
                <a:solidFill>
                  <a:srgbClr val="1B2A41"/>
                </a:solidFill>
              </a:rPr>
              <a:t>Reading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11100816" y="3520440"/>
            <a:ext cx="395020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spcAft>
                <a:spcPts val="1400"/>
              </a:spcAft>
              <a:buNone/>
            </a:pPr>
            <a:r>
              <a:rPr lang="en-US" sz="1900" b="1" dirty="0">
                <a:solidFill>
                  <a:srgbClr val="1B2A41"/>
                </a:solidFill>
              </a:rPr>
              <a:t>Main text: </a:t>
            </a:r>
            <a:pPr rtl="0" algn="l"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1B2A41"/>
                </a:solidFill>
              </a:rPr>
              <a:t>Chor &amp; Rubenstein, Computational Thinking for Life Scientists (Cambridge UP) — free with your BIU login</a:t>
            </a:r>
            <a:endParaRPr lang="en-US" sz="1900" dirty="0"/>
          </a:p>
          <a:p>
            <a:pPr rtl="0" algn="l" indent="0" marL="0">
              <a:spcAft>
                <a:spcPts val="1400"/>
              </a:spcAft>
              <a:buNone/>
            </a:pPr>
            <a:r>
              <a:rPr lang="en-US" sz="1900" b="1" dirty="0">
                <a:solidFill>
                  <a:srgbClr val="1B2A41"/>
                </a:solidFill>
              </a:rPr>
              <a:t>Background: </a:t>
            </a:r>
            <a:pPr rtl="0" algn="l"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1B2A41"/>
                </a:solidFill>
              </a:rPr>
              <a:t>D. Harel, Algorithmics (Open University, Hebrew)</a:t>
            </a:r>
            <a:endParaRPr lang="en-US" sz="1900" dirty="0"/>
          </a:p>
          <a:p>
            <a:pPr rtl="0" algn="l" indent="0" marL="0">
              <a:spcAft>
                <a:spcPts val="1400"/>
              </a:spcAft>
              <a:buNone/>
            </a:pPr>
            <a:r>
              <a:rPr lang="en-US" sz="1900" b="1" dirty="0">
                <a:solidFill>
                  <a:srgbClr val="1B2A41"/>
                </a:solidFill>
              </a:rPr>
              <a:t>Prerequisites: </a:t>
            </a:r>
            <a:pPr rtl="0" algn="l"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1B2A41"/>
                </a:solidFill>
              </a:rPr>
              <a:t>none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4813280" y="8549640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33404F"/>
                </a:solidFill>
              </a:defRPr>
            </a:lvl1pPr>
          </a:lstStyle>
          <a:p>
            <a:pPr rtl="0"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enny Chor photo" descr="/tmp/claude-0/-home-claude/725bf24d-e770-505f-aea1-2bb55cbdbd30/scratchpad/orig/x/ppt/media/image6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0" y="0"/>
            <a:ext cx="8026420" cy="9144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7315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1600" dirty="0">
                <a:solidFill>
                  <a:srgbClr val="33404F"/>
                </a:solidFill>
              </a:rPr>
              <a:t>In memory of the textbook’s first author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234440"/>
            <a:ext cx="7223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buNone/>
            </a:pPr>
            <a:r>
              <a:rPr lang="en-US" sz="31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Ben-Zion “Benny” Chor (1956–2021)</a:t>
            </a:r>
            <a:endParaRPr lang="en-US" sz="31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926080"/>
            <a:ext cx="69494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 algn="l"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1B2A41"/>
                </a:solidFill>
              </a:rPr>
              <a:t>Prof. Chor did seminal work in cryptography, was one of the pioneers of bioinformatics, and a gifted and loved teacher. He served as Head of the School of Computer Science in TAU in the years 2018–2020, previously being a professor at the Technion.</a:t>
            </a:r>
            <a:endParaRPr lang="en-US" sz="1900" dirty="0"/>
          </a:p>
          <a:p>
            <a:pPr rtl="0" algn="l"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1B2A41"/>
                </a:solidFill>
              </a:rPr>
              <a:t>Beyond cryptography, he also made important contributions in distributed shared-memory consensus and in the discovery of patterns in gene expression data.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103120"/>
            <a:ext cx="8778240" cy="23774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rtl="0"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next: your first Python program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4663440"/>
            <a:ext cx="8961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0" algn="l" indent="0" marL="0">
              <a:buNone/>
            </a:pPr>
            <a:r>
              <a:rPr lang="en-US" sz="2800" dirty="0">
                <a:solidFill>
                  <a:srgbClr val="F2F6FA"/>
                </a:solidFill>
              </a:rPr>
              <a:t>Variables, data types, arithmetic and logic, input and output, lists and strings</a:t>
            </a:r>
            <a:endParaRPr lang="en-US" sz="2800" dirty="0"/>
          </a:p>
        </p:txBody>
      </p:sp>
      <p:sp>
        <p:nvSpPr>
          <p:cNvPr id="4" name="takeaway 1 circle"/>
          <p:cNvSpPr/>
          <p:nvPr/>
        </p:nvSpPr>
        <p:spPr>
          <a:xfrm>
            <a:off x="10241280" y="1188720"/>
            <a:ext cx="777240" cy="777240"/>
          </a:xfrm>
          <a:prstGeom prst="ellipse">
            <a:avLst/>
          </a:prstGeom>
          <a:solidFill>
            <a:srgbClr val="4E9A4B"/>
          </a:solidFill>
          <a:ln w="12700">
            <a:solidFill>
              <a:srgbClr val="4E9A4B"/>
            </a:solidFill>
            <a:prstDash val="solid"/>
          </a:ln>
        </p:spPr>
      </p:sp>
      <p:pic>
        <p:nvPicPr>
          <p:cNvPr id="5" name="takeaway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2273" y="1359713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247120" y="114300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Biology needs computation: the data outgrew us.</a:t>
            </a:r>
            <a:endParaRPr lang="en-US" sz="1800" dirty="0"/>
          </a:p>
        </p:txBody>
      </p:sp>
      <p:sp>
        <p:nvSpPr>
          <p:cNvPr id="7" name="takeaway 2 circle"/>
          <p:cNvSpPr/>
          <p:nvPr/>
        </p:nvSpPr>
        <p:spPr>
          <a:xfrm>
            <a:off x="10241280" y="2331720"/>
            <a:ext cx="777240" cy="7772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8" name="takeaway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273" y="2502713"/>
            <a:ext cx="435254" cy="43525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247120" y="228600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Computation = precise, finite, general, correct recipes.</a:t>
            </a:r>
            <a:endParaRPr lang="en-US" sz="1800" dirty="0"/>
          </a:p>
        </p:txBody>
      </p:sp>
      <p:sp>
        <p:nvSpPr>
          <p:cNvPr id="10" name="takeaway 3 circle"/>
          <p:cNvSpPr/>
          <p:nvPr/>
        </p:nvSpPr>
        <p:spPr>
          <a:xfrm>
            <a:off x="10241280" y="3474720"/>
            <a:ext cx="777240" cy="77724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pic>
        <p:nvPicPr>
          <p:cNvPr id="11" name="takeaway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2273" y="3645713"/>
            <a:ext cx="435254" cy="43525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247120" y="342900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Efficiency = how time and memory grow with the input.</a:t>
            </a:r>
            <a:endParaRPr lang="en-US" sz="1800" dirty="0"/>
          </a:p>
        </p:txBody>
      </p:sp>
      <p:sp>
        <p:nvSpPr>
          <p:cNvPr id="13" name="takeaway 4 circle"/>
          <p:cNvSpPr/>
          <p:nvPr/>
        </p:nvSpPr>
        <p:spPr>
          <a:xfrm>
            <a:off x="10241280" y="4617720"/>
            <a:ext cx="777240" cy="777240"/>
          </a:xfrm>
          <a:prstGeom prst="ellipse">
            <a:avLst/>
          </a:prstGeom>
          <a:solidFill>
            <a:srgbClr val="C2452D"/>
          </a:solidFill>
          <a:ln w="12700">
            <a:solidFill>
              <a:srgbClr val="C2452D"/>
            </a:solidFill>
            <a:prstDash val="solid"/>
          </a:ln>
        </p:spPr>
      </p:sp>
      <p:pic>
        <p:nvPicPr>
          <p:cNvPr id="14" name="takeaway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2273" y="4788713"/>
            <a:ext cx="435254" cy="43525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247120" y="457200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Some problems are unsolvable; some are hopelessly slow.</a:t>
            </a:r>
            <a:endParaRPr lang="en-US" sz="1800" dirty="0"/>
          </a:p>
        </p:txBody>
      </p:sp>
      <p:sp>
        <p:nvSpPr>
          <p:cNvPr id="16" name="takeaway 5 circle"/>
          <p:cNvSpPr/>
          <p:nvPr/>
        </p:nvSpPr>
        <p:spPr>
          <a:xfrm>
            <a:off x="10241280" y="5760720"/>
            <a:ext cx="777240" cy="777240"/>
          </a:xfrm>
          <a:prstGeom prst="ellipse">
            <a:avLst/>
          </a:prstGeom>
          <a:solidFill>
            <a:srgbClr val="D98A1F"/>
          </a:solidFill>
          <a:ln w="12700">
            <a:solidFill>
              <a:srgbClr val="D98A1F"/>
            </a:solidFill>
            <a:prstDash val="solid"/>
          </a:ln>
        </p:spPr>
      </p:sp>
      <p:pic>
        <p:nvPicPr>
          <p:cNvPr id="17" name="takeaway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2273" y="5931713"/>
            <a:ext cx="435254" cy="43525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1247120" y="571500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AI is a tool you must be able to read and test.</a:t>
            </a:r>
            <a:endParaRPr lang="en-US" sz="1800" dirty="0"/>
          </a:p>
        </p:txBody>
      </p:sp>
      <p:sp>
        <p:nvSpPr>
          <p:cNvPr id="19" name="takeaway 6 circle"/>
          <p:cNvSpPr/>
          <p:nvPr/>
        </p:nvSpPr>
        <p:spPr>
          <a:xfrm>
            <a:off x="10241280" y="6903720"/>
            <a:ext cx="777240" cy="777240"/>
          </a:xfrm>
          <a:prstGeom prst="ellipse">
            <a:avLst/>
          </a:prstGeom>
          <a:solidFill>
            <a:srgbClr val="6C5BA8"/>
          </a:solidFill>
          <a:ln w="12700">
            <a:solidFill>
              <a:srgbClr val="6C5BA8"/>
            </a:solidFill>
            <a:prstDash val="solid"/>
          </a:ln>
        </p:spPr>
      </p:sp>
      <p:pic>
        <p:nvPicPr>
          <p:cNvPr id="20" name="takeaway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12273" y="7074713"/>
            <a:ext cx="435254" cy="435254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1247120" y="685800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AI changes what is practical, not what is possible.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U Bio Computation">
  <a:themeElements>
    <a:clrScheme name="BIU Bio Computation">
      <a:dk1>
        <a:srgbClr val="1B2A41"/>
      </a:dk1>
      <a:lt1>
        <a:srgbClr val="FFFFFF"/>
      </a:lt1>
      <a:dk2>
        <a:srgbClr val="33404F"/>
      </a:dk2>
      <a:lt2>
        <a:srgbClr val="F1F5F7"/>
      </a:lt2>
      <a:accent1>
        <a:srgbClr val="4E9A4B"/>
      </a:accent1>
      <a:accent2>
        <a:srgbClr val="0E7C7B"/>
      </a:accent2>
      <a:accent3>
        <a:srgbClr val="2F6DB5"/>
      </a:accent3>
      <a:accent4>
        <a:srgbClr val="C2452D"/>
      </a:accent4>
      <a:accent5>
        <a:srgbClr val="D98A1F"/>
      </a:accent5>
      <a:accent6>
        <a:srgbClr val="6C5BA8"/>
      </a:accent6>
      <a:hlink>
        <a:srgbClr val="2F6DB5"/>
      </a:hlink>
      <a:folHlink>
        <a:srgbClr val="6C5BA8"/>
      </a:folHlink>
    </a:clrScheme>
    <a:fontScheme name="BIU Bio Computati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Science for Biologists - Lesson 1</dc:title>
  <dc:subject>PptxGenJS Presentation</dc:subject>
  <dc:creator>Dr. Arie Fouren</dc:creator>
  <cp:lastModifiedBy>Dr. Arie Fouren</cp:lastModifiedBy>
  <cp:revision>1</cp:revision>
  <dcterms:created xsi:type="dcterms:W3CDTF">2026-10-11T09:46:35Z</dcterms:created>
  <dcterms:modified xsi:type="dcterms:W3CDTF">2026-10-11T09:46:35Z</dcterms:modified>
</cp:coreProperties>
</file>