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2560320" cy="2217420"/>
          </a:xfrm>
          <a:prstGeom prst="rect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 and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- BFS - Biological Networks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- 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69164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6984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8074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directed &amp; undirected graphs, applications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69164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6984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38074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(BFS)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4767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Algorithm, pseudocode, Python implementation, path reconstruction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73152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4436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5526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Betweenness, characteristic path length, diameter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73152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4436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5526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Algorithms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82219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DFS, weighted graphs, negative cycles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68830"/>
            <a:ext cx="914400" cy="914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6883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7739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Paths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minimum-distance routes in directed and undirected graphs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-  THE SHORTEST PATHS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7782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graph G (directed or undirected) and two nodes v₁ and v₂, find: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21615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The distance </a:t>
            </a:r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dist(v₁, v₂)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length of the shortest path from v₁ to v₂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shortest path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 explicit sequence of nodes realizing that distance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840480" cy="301752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(non-weighted)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edges along the path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3840480" cy="301752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(weighted)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2816352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edge weights along the path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3840480" cy="301752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dist(v₁, v₂) = inf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3163824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 is not reachable from v₁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3840480" cy="301752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11296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(this chapter)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511296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Non-weighted graphs; directed or undirected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-  THE SHORTEST PATHS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6.1 - Example: Directed Graph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 flipH="1">
            <a:off x="886686" y="1255216"/>
            <a:ext cx="421187" cy="5528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5724" y="1220158"/>
            <a:ext cx="711913" cy="6229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719072" y="1051560"/>
            <a:ext cx="1865376" cy="914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765146" y="1205179"/>
            <a:ext cx="870509" cy="65288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67507" y="1273858"/>
            <a:ext cx="294585" cy="51552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011680"/>
            <a:ext cx="1316736" cy="914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4204" y="2180278"/>
            <a:ext cx="711913" cy="6229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983966" y="2215336"/>
            <a:ext cx="421187" cy="5528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53004" y="2180278"/>
            <a:ext cx="711913" cy="622923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7507" y="1273858"/>
            <a:ext cx="294585" cy="51552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2971800"/>
            <a:ext cx="1316736" cy="914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812766" y="2215336"/>
            <a:ext cx="421187" cy="5528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886686" y="1255216"/>
            <a:ext cx="421187" cy="552808"/>
          </a:xfrm>
          <a:prstGeom prst="line">
            <a:avLst/>
          </a:prstGeom>
          <a:noFill/>
          <a:ln w="2794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204" y="2180278"/>
            <a:ext cx="711913" cy="622923"/>
          </a:xfrm>
          <a:prstGeom prst="line">
            <a:avLst/>
          </a:prstGeom>
          <a:noFill/>
          <a:ln w="2794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55724" y="1220158"/>
            <a:ext cx="711913" cy="622923"/>
          </a:xfrm>
          <a:prstGeom prst="line">
            <a:avLst/>
          </a:prstGeom>
          <a:noFill/>
          <a:ln w="27940">
            <a:solidFill>
              <a:srgbClr val="0D73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983966" y="2215336"/>
            <a:ext cx="421187" cy="552808"/>
          </a:xfrm>
          <a:prstGeom prst="line">
            <a:avLst/>
          </a:prstGeom>
          <a:noFill/>
          <a:ln w="2794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724" y="1220158"/>
            <a:ext cx="711913" cy="622923"/>
          </a:xfrm>
          <a:prstGeom prst="line">
            <a:avLst/>
          </a:prstGeom>
          <a:noFill/>
          <a:ln w="25400">
            <a:solidFill>
              <a:srgbClr val="E05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3004" y="2180278"/>
            <a:ext cx="711913" cy="622923"/>
          </a:xfrm>
          <a:prstGeom prst="line">
            <a:avLst/>
          </a:prstGeom>
          <a:noFill/>
          <a:ln w="25400">
            <a:solidFill>
              <a:srgbClr val="E05F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812766" y="2215336"/>
            <a:ext cx="421187" cy="552808"/>
          </a:xfrm>
          <a:prstGeom prst="line">
            <a:avLst/>
          </a:prstGeom>
          <a:noFill/>
          <a:ln w="25400">
            <a:solidFill>
              <a:srgbClr val="E05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795528"/>
            <a:ext cx="512064" cy="512064"/>
          </a:xfrm>
          <a:prstGeom prst="ellipse">
            <a:avLst/>
          </a:prstGeom>
          <a:solidFill>
            <a:srgbClr val="0D7377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79552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84448" y="79552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79552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175564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7556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04288" y="175564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17556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33088" y="175564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17556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572768" y="271576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2768" y="27157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401568" y="2715768"/>
            <a:ext cx="512064" cy="512064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27157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20640" y="1097280"/>
            <a:ext cx="365760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85232" y="1691640"/>
            <a:ext cx="4572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158191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edges: shortest paths 0-&gt;5 (dist = 2)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85232" y="2240280"/>
            <a:ext cx="457200" cy="73152"/>
          </a:xfrm>
          <a:prstGeom prst="rect">
            <a:avLst/>
          </a:prstGeom>
          <a:solidFill>
            <a:srgbClr val="E05F2C"/>
          </a:solidFill>
          <a:ln w="12700">
            <a:solidFill>
              <a:srgbClr val="E05F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213055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edges: shortest path 0-&gt;4 (dist = 3)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85232" y="2697480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267919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node: 0 (filled teal)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66360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0-&gt;2-&gt;5 or 0-&gt;3-&gt;5  (dist = 2)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5F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0-&gt;3-&gt;6-&gt;4  (dist = 3)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6.1.  Directed graph: two shortest paths 0-&gt;5 (teal, length 2) and one shortest path 0-&gt;4 (orange, length 3).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-  THE SHORTEST PATHS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Shortest Paths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76200" dist="25400" dir="8100000">
              <a:srgbClr val="B0BCC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10972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fastest route in a road or city network. Each junction is a node; roads are weighted edges.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76200" dist="25400" dir="8100000">
              <a:srgbClr val="B0BCC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78992"/>
            <a:ext cx="502920" cy="502920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8112" y="10972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network packet to its destination via the fastest path across routers and links.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76200" dist="25400" dir="8100000">
              <a:srgbClr val="B0BC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44952"/>
            <a:ext cx="502920" cy="502920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" y="30632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538728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acquaintances connecting two people - the 'six degrees of separation' concept.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76200" dist="25400" dir="8100000">
              <a:srgbClr val="B0BCC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044952"/>
            <a:ext cx="502920" cy="502920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44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8112" y="30632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Signaling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538728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signaling path in a neural network from stimulus to response node.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68830"/>
            <a:ext cx="914400" cy="914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6883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7739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 (BFS)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design, pseudocode, and Python implementation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  -  BFS 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BFS Algorithm - Wave-like Traversal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548640" cy="548640"/>
          </a:xfrm>
          <a:prstGeom prst="ellipse">
            <a:avLst/>
          </a:prstGeom>
          <a:solidFill>
            <a:srgbClr val="C5D8F0"/>
          </a:solidFill>
          <a:ln w="25400">
            <a:solidFill>
              <a:srgbClr val="2563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A6"/>
                </a:solidFill>
              </a:rPr>
              <a:t>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8595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13385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reached from the source. Distance = inf.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41248"/>
            <a:ext cx="548640" cy="548640"/>
          </a:xfrm>
          <a:prstGeom prst="ellipse">
            <a:avLst/>
          </a:prstGeom>
          <a:solidFill>
            <a:srgbClr val="C4A8E0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412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8595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13385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queue Q, waiting to have neighbors explored.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841248"/>
            <a:ext cx="548640" cy="54864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8412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8595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13385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and removed from Q. Distance is finalized.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600200"/>
            <a:ext cx="8412480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Q - FIFO (First In, First Out)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node in Q (denoted u) is always handled next. When an unseen neighbor v of u is found, v enters Q. Node u is then marked Final.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25877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907792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node is assigned a distance, that distance is correct and will never be changed.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reachable node is assigned a distance exactly once.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correctly computes dist(source, v) for all nodes v reachable from source.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state transitions: Unseen -&gt; Active (enters Q) -&gt; Final (removed from Q, distance fixed).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  -  BFS 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Pseudocode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804672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 (G, source):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 dists[source] = 0 ;  dists[v] = inf  for all other nodes v in 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 Q = [ source 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Loop: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 while Q is not empty: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3.1    u  -&gt;  head of Q (oldest node)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3.2    remove u from Q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3.3    for every neighbor v of u in G: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3.3.1      if dists[v] = inf  (v unseen):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3.3.1.1        dists[v]  -&gt;  dists[u] + 1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3.3.1.2        insert v into Q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Termination (Q is empty):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 return dists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0416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 infinity is represented as  float('Inf')  -  larger than any number.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float('Inf') &gt; 100**100   -&gt;   True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6.2.1  -  BFS ALGORITHM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6.2 - BFS Algorithm Flow (Steps 1-8)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3383280"/>
        </p:xfrm>
        <a:graphic>
          <a:graphicData uri="http://schemas.openxmlformats.org/drawingml/2006/table">
            <a:tbl>
              <a:tblPr/>
              <a:tblGrid>
                <a:gridCol w="502920"/>
                <a:gridCol w="2971800"/>
                <a:gridCol w="493776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dists  [s, a, b, c, d, e, f]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5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inf, inf, inf, inf, inf, inf]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inf, 1, 1, inf, inf, inf]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e]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inf, 1, 1, inf, 2, inf]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e, a, 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2, 1, 1, inf, 2,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e, a, 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2, 1, 1, inf, 2,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ê, a, f]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2, 1, 1, inf, 2,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ê, a, f, d]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2, 1, 1, 3, 2,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E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[s, b, c, ê, ã, f, d]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 2, 1, 1, 3, 2, 2]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343400"/>
            <a:ext cx="201168" cy="20116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251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node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08960" y="4343400"/>
            <a:ext cx="201168" cy="201168"/>
          </a:xfrm>
          <a:prstGeom prst="ellipse">
            <a:avLst/>
          </a:prstGeom>
          <a:solidFill>
            <a:srgbClr val="C4A8E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43251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node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4343400"/>
            <a:ext cx="201168" cy="20116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3251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node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0" y="4864608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6.2.  BFS execution on a small undirected graph. s = already removed from Q (Final); inf = unseen.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  - 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- Python Implementation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07492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77824"/>
            <a:ext cx="4855464" cy="3694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bfs(G, source):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 = float('Inf')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len(G)            # number of nodes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Initialization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 = [inf] * n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dists[source] = 0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[source]          # Queue of "active" nodes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Main loop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len(Q) != 0:    # while nodes remain to handle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Q.pop(0)      # get and remove head of Q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range(n):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G[u][v] == 1 and dists[v] == inf: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dists[v] = dists[u] + 1   # update distance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Q.append(v)               # v enters Q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dists           # Termination: Q is empty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577840" y="932688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326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70448" y="914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float('Inf') serves as inf; any assigned dist will be finite.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353312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3533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70448" y="13350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len(G) = number of rows in adjacency matrix = number of nodes.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084832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084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70448" y="206654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Q.pop(0) removes and returns the oldest element (FIFO head).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423160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2316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70448" y="240487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G[u][v]==1 checks the edge u-&gt;v in the adjacency matrix.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2743200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7432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70448" y="272491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dist only on first visit (dists[v] == inf).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063240"/>
            <a:ext cx="219456" cy="21945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0632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70448" y="304495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Q.append(v) enqueues newly discovered node at the tail.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3767328"/>
            <a:ext cx="3200400" cy="566928"/>
          </a:xfrm>
          <a:prstGeom prst="rect">
            <a:avLst/>
          </a:prstGeom>
          <a:solidFill>
            <a:srgbClr val="E0F2F1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382219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dists = bfs(G,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print(dists)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2, 1, 1, 3, 2, 2]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6.2.2  - 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6.3 - BFS Example Graph &amp;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12064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77824"/>
            <a:ext cx="4901184" cy="1773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[ [0,0,1,1,0,0,0],   # node 0 -&gt; 2,3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[1,0,0,0,0,0,0],   # node 1 -&gt; 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[0,0,0,1,0,1,0],   # node 2 -&gt; 3,5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[0,1,0,0,0,1,1],   # node 3 -&gt; 1,5,6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[0,1,0,0,0,0,0],   # node 4 -&gt; 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[0,0,0,0,0,0,1],   # node 5 -&gt; 6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[0,0,0,0,1,0,0] ]  # node 6 -&gt; 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6.3.  Directed graph (7 nodes) used as the running example for BFS implementation.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flipH="1">
            <a:off x="5601859" y="1213666"/>
            <a:ext cx="226283" cy="407309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0314" y="1164882"/>
            <a:ext cx="560973" cy="504875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181344" y="1005840"/>
            <a:ext cx="1627632" cy="91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7053471" y="1141166"/>
            <a:ext cx="797777" cy="552307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8294" y="1237923"/>
            <a:ext cx="79732" cy="358795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4144" y="1828800"/>
            <a:ext cx="896112" cy="91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34917" y="2014447"/>
            <a:ext cx="434485" cy="54310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053471" y="1141166"/>
            <a:ext cx="797777" cy="552307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354257" y="2023567"/>
            <a:ext cx="367406" cy="524865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6110" y="1996910"/>
            <a:ext cx="578179" cy="578179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8294" y="1237923"/>
            <a:ext cx="79732" cy="358795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2743200"/>
            <a:ext cx="1078992" cy="91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878722" y="2041445"/>
            <a:ext cx="244555" cy="489111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76809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05856" y="76809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08976" y="76809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76809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48656" y="159105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8656" y="15910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0256" y="159105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15910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91856" y="159105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1856" y="15910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0176" y="250545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0176" y="25054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34656" y="250545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34656" y="25054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5120640" cy="777240"/>
          </a:xfrm>
          <a:prstGeom prst="rect">
            <a:avLst/>
          </a:prstGeom>
          <a:solidFill>
            <a:srgbClr val="FFF8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9718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044952"/>
            <a:ext cx="4864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3282696"/>
            <a:ext cx="486460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execution of BFS from source node 3. What is the returned value of the function bfs(G, 3)?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858768"/>
            <a:ext cx="5120640" cy="777240"/>
          </a:xfrm>
          <a:prstGeom prst="rect">
            <a:avLst/>
          </a:prstGeom>
          <a:solidFill>
            <a:srgbClr val="FFF8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58768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931920"/>
            <a:ext cx="48646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" y="4169664"/>
            <a:ext cx="486460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is not reachable from the source, what will its distance be at the end of execution?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  -  RECONSTRUCTING SHORTEST PATHS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the Shortest Path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- Trace Backwards from Target to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node v, record the node that discovered it (its predecessor on the shortest path). Store these in a list called prevs.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2788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45920"/>
            <a:ext cx="8193024" cy="2642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bfs(G, source):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  = float('Inf')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 = len(G)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          = [inf] * 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dists[source]  = 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prevs          = [-1] * n     # -&gt; NEW: -1 = not yet discovered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             = [source]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len(Q) != 0: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Q.pop(0)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 in range(n):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G[u][v] == 1 and dists[v] == inf: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dists[v]  = dists[u] + 1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prevs[v]  = u             # -&gt; NEW: record predecessor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Q.append(v)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dists, prevs               # -&gt; NEW: return both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E0F2F1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507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dists, prevs = bfs(G, 0)   -&gt;   prevs = [-1, 3, 0, 0, 6, 2, 3]   (source node keeps prevs = -1)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6.2.3  -  RECONSTRUCTING SHORTEST PATHS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shortest_path Function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2487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77824"/>
            <a:ext cx="8193024" cy="23408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shortest_path(G, source, target):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 Returns the shortest path from source to target in G.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 is non-weighted, directed graph as a binary matrix.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Output: list of nodes in the path (empty if unreachable). '''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dists, prevs = bfs(G, source)      # run BFS first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prevs[target] == -1:            # target not reachable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[target]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= target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v != source: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   = prevs[v]                # move one step backward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 = [v] + path              # prepend to path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Run BFS from source to obtain the prevs list.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602736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If prevs[target] == -1, target was never discovered -&gt; return empty list [].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822192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Start at target and follow prevs[v] backwards until reaching source.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Prepend each node to path - result is source -&gt; ... -&gt; target order.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5074920" cy="713232"/>
          </a:xfrm>
          <a:prstGeom prst="rect">
            <a:avLst/>
          </a:prstGeom>
          <a:solidFill>
            <a:srgbClr val="FFF8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29768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370832"/>
            <a:ext cx="481888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4608576"/>
            <a:ext cx="48188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solve the 'path through a required intermediate node' variant without modifying BFS internals?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4297680"/>
            <a:ext cx="3246120" cy="713232"/>
          </a:xfrm>
          <a:prstGeom prst="rect">
            <a:avLst/>
          </a:prstGeom>
          <a:solidFill>
            <a:srgbClr val="FFF8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429768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4370832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&amp;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96712" y="4608576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Ex.4: If v is unreachable, what is prevs[v]?   Ex.5: Find the shortest path from node 0 to node 4 in Figure 6.3.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68830"/>
            <a:ext cx="914400" cy="914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6883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7739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Biologically Relevant Metrics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Betweenness, characteristic path length, and graph diameter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-  BIOLOGICALLY RELEVANT METRICS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Metrics Derived from Shortest Paths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50800" dist="12700" dir="8100000">
              <a:srgbClr val="B0BCC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96112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87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β(v) = #{shortest paths passing through v}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43400" y="1005840"/>
            <a:ext cx="4297680" cy="102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on many shortest paths in a PPI network control information flow. High-betweenness / low-degree nodes are network 'bridges' between clusters.  Joy et al., J Biomed Biotechnol (2005): yeast PPI - 4,721 proteins, 15,210 interactions.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50800" dist="12700" dir="8100000">
              <a:srgbClr val="B0BCC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Path Length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6243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average of dist(u,v) over all node pairs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2350008"/>
            <a:ext cx="4297680" cy="102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network's 'spread-out'. Requires a connected graph (infinite distances otherwise). Differs between networks with distinct biological functions.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F"/>
            </a:solidFill>
            <a:prstDash val="solid"/>
          </a:ln>
          <a:effectLst>
            <a:outerShdw sx="100000" sy="100000" kx="0" ky="0" algn="bl" rotWithShape="0" blurRad="50800" dist="12700" dir="8100000">
              <a:srgbClr val="B0BCC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7315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max dist(u,v) over all node pairs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3694176"/>
            <a:ext cx="4297680" cy="102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the two farthest nodes. Upper bound on how far information must travel across the network. A global network property.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-  BIOLOGICALLY RELEVANT METRICS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6.4 - High-Betweenness, Low-Degree Node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 flipH="1">
            <a:off x="640080" y="1645920"/>
            <a:ext cx="45720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45720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280" y="2468880"/>
            <a:ext cx="73152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645920"/>
            <a:ext cx="73152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645920"/>
            <a:ext cx="9144" cy="164592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645920"/>
            <a:ext cx="64008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5943600" y="2468880"/>
            <a:ext cx="64008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468880"/>
            <a:ext cx="82296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120640" y="1645920"/>
            <a:ext cx="822960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645920"/>
            <a:ext cx="9144" cy="164592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468880"/>
            <a:ext cx="1828800" cy="9144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3657600" y="2468880"/>
            <a:ext cx="1463040" cy="9144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140817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23113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05409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91056" y="223113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140817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223113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305409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2231136"/>
            <a:ext cx="475488" cy="475488"/>
          </a:xfrm>
          <a:prstGeom prst="ellipse">
            <a:avLst/>
          </a:prstGeom>
          <a:solidFill>
            <a:srgbClr val="C5D8F0"/>
          </a:solidFill>
          <a:ln w="19050">
            <a:solidFill>
              <a:srgbClr val="2563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194560"/>
            <a:ext cx="548640" cy="54864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88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8229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82296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6.4.  The red node has a high betweenness value (lies on many shortest paths) but a low degree (only 2 edges). It is a bridge between two clusters.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FFF8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605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233672"/>
            <a:ext cx="81564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4471416"/>
            <a:ext cx="815644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functions avg_dist(G) and diameter(G) that receive an unweighted graph G (as a binary matrix) and return the average and maximal shortest-path lengths.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68830"/>
            <a:ext cx="914400" cy="914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6883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7739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variants, weighted graphs, and further graph 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BFS - Further Algorithms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91440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weighted graphs (non-negative weights). Works like BFS but extracts nodes from a priority queue (by distance), not FIFO. Named after Edsger W. Dijkstra (1930-2002).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Weights &amp; Cycles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fails with negative weights. Negative cycles (sum of cycle weights &lt; 0) make the shortest path undefined - the path can decrease indefinitely by looping. Dedicated algorithms detect such cycles.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8412480" cy="91440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626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First Search (DFS)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paths as far as possible before backtracking. Uses a stack (LIFO) instead of a queue. Same time complexity as BFS. Different traversal order yields different applications.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8678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Graph Problems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clique, densest cluster, smallest disconnecting edge set, maximal flow (source -&gt; sink), cycle detection - many with biological relevance.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68830"/>
            <a:ext cx="914400" cy="9144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6883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7739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Yourself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problems using BFS and real biological networks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YOURSELF  -  PROBLEM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1 - Checking Graph Connectivity via BFS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undirected graph has a path from every node to every other node.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1381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BFS algorithm be used to check if a given unweighted graph is connected or not?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Python function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connected(G)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checks if G is connected.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8412480" cy="1234440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6148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BFS from any node s. After BFS completes, check the dists array.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node has dist = inf, it was unreachable -&gt; graph is not connected. Otherwise, all nodes were reached -&gt; graph is connected.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4041648"/>
            <a:ext cx="8412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114800"/>
            <a:ext cx="8193024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connected(G):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dists = bfs(G, 0)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all(d != float('Inf') for d in dists)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YOURSELF  -  PROBLEM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2 - The Mammalian Cellular Network Case Study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987552"/>
          </a:xfrm>
          <a:prstGeom prst="rect">
            <a:avLst/>
          </a:prstGeom>
          <a:solidFill>
            <a:srgbClr val="EEF3FA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hippocampal CA1 neuron signaling network (Ma'ayan et al., Science 2005)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5214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nodes (signaling components)  -  1,259 directed edges (interactions)  -  Extracellular ligands -&gt; cellular machinery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2646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function CA1file2mat() to convert the data file to a binary adjacency matrix.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1965960"/>
            <a:ext cx="8028432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39112"/>
            <a:ext cx="780897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G, nodes = CA1file2mat("./CA1.txt")   # load the network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292608" cy="292608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791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642616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path from 'GLUTAMATE' (extracellular ligand) to 'CREB' (transcription factor).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292608" cy="292608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55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319272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edge GLUTAMATE -&gt; NMDAR and re-run. Does the network find an alternative path?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32504"/>
            <a:ext cx="292608" cy="292608"/>
          </a:xfrm>
          <a:prstGeom prst="ellipse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325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995928"/>
            <a:ext cx="80284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diameter of the CA1 network (max over all shortest paths). This is a 545×545 matrix!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66928" cy="530352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669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15214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 minimum-edge-count route between two nodes; dist(v₁,v₂) = inf if unreachable.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66928" cy="530352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5669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83794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wave-like traversal using a FIFO queue. Assigns each reachable node its correct distance exactly once.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566928" cy="530352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5669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52374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Python: adjacency matrix G, queue Q = list with pop(0) / append; prevs list reconstructs the actual path.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566928" cy="530352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5669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20954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Betweenness, characteristic path length, and diameter - global network metrics computed via BFS.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66928" cy="530352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6692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89534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Dijkstra (weighted, non-negative), DFS, negative-cycle detection, flow algorithms.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485132"/>
            <a:ext cx="8412480" cy="475488"/>
          </a:xfrm>
          <a:prstGeom prst="rect">
            <a:avLst/>
          </a:prstGeom>
          <a:solidFill>
            <a:srgbClr val="0F1F45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308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 Joy et al. (2005) J Biomed Biotechnol - Ma'ayan et al. (2005) Science - doi:10.1017/9781108178327.010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Shortest Paths and Breadth First Search</dc:title>
  <dc:subject>PptxGenJS Presentation</dc:subject>
  <dc:creator>Chor &amp; Rubenstein - Computational Thinking for Life Scientists</dc:creator>
  <cp:lastModifiedBy>Chor &amp; Rubenstein - Computational Thinking for Life Scientists</cp:lastModifiedBy>
  <cp:revision>1</cp:revision>
  <dcterms:created xsi:type="dcterms:W3CDTF">2026-06-04T20:14:20Z</dcterms:created>
  <dcterms:modified xsi:type="dcterms:W3CDTF">2026-06-04T20:14:20Z</dcterms:modified>
</cp:coreProperties>
</file>