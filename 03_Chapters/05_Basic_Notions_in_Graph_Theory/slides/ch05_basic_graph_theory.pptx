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914400"/>
            <a:ext cx="18288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CHAPTER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417320"/>
            <a:ext cx="8321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Notions in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Theory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310896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</a:rPr>
              <a:t>Graphs · Weighted Graphs · Paths · Special Types · Representations · Clustering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4116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56032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CHAPTER 5  – 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Chapter Overview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2697480" cy="914400"/>
          </a:xfrm>
          <a:prstGeom prst="rect">
            <a:avLst/>
          </a:prstGeom>
          <a:solidFill>
            <a:srgbClr val="132740"/>
          </a:solidFill>
          <a:ln w="889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704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Graphs: Definitions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Nodes, edges, directed/undirected, degree, neighborhood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97480" cy="914400"/>
          </a:xfrm>
          <a:prstGeom prst="rect">
            <a:avLst/>
          </a:prstGeom>
          <a:solidFill>
            <a:srgbClr val="132740"/>
          </a:solidFill>
          <a:ln w="889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1704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137160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Weighted Graphs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91840" y="166420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Edge weights, activation/inhibition, regulation networks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89320" y="1097280"/>
            <a:ext cx="2697480" cy="914400"/>
          </a:xfrm>
          <a:prstGeom prst="rect">
            <a:avLst/>
          </a:prstGeom>
          <a:solidFill>
            <a:srgbClr val="132740"/>
          </a:solidFill>
          <a:ln w="889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1704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137160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Paths &amp; Connectivity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80760" y="166420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Simple paths, cycles, distance, connected graphs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093976"/>
            <a:ext cx="2697480" cy="914400"/>
          </a:xfrm>
          <a:prstGeom prst="rect">
            <a:avLst/>
          </a:prstGeom>
          <a:solidFill>
            <a:srgbClr val="132740"/>
          </a:solidFill>
          <a:ln w="889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1671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36829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Eulerian &amp; Hamiltonian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2660904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Eulerian paths/cycles, Euler's theorem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2093976"/>
            <a:ext cx="2697480" cy="914400"/>
          </a:xfrm>
          <a:prstGeom prst="rect">
            <a:avLst/>
          </a:prstGeom>
          <a:solidFill>
            <a:srgbClr val="132740"/>
          </a:solidFill>
          <a:ln w="889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91840" y="21671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236829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Special Graph Types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2660904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Bipartite, cliques, trees, rooted trees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89320" y="2093976"/>
            <a:ext cx="2697480" cy="914400"/>
          </a:xfrm>
          <a:prstGeom prst="rect">
            <a:avLst/>
          </a:prstGeom>
          <a:solidFill>
            <a:srgbClr val="132740"/>
          </a:solidFill>
          <a:ln w="889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80760" y="21671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236829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Representing Graphs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80760" y="2660904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Adjacency matrix and adjacency list in Python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3090672"/>
            <a:ext cx="2697480" cy="914400"/>
          </a:xfrm>
          <a:prstGeom prst="rect">
            <a:avLst/>
          </a:prstGeom>
          <a:solidFill>
            <a:srgbClr val="132740"/>
          </a:solidFill>
          <a:ln w="889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3364992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Random Graphs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365760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Erdős–Rényi model, preferential attachment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0" y="3090672"/>
            <a:ext cx="2697480" cy="914400"/>
          </a:xfrm>
          <a:prstGeom prst="rect">
            <a:avLst/>
          </a:prstGeom>
          <a:solidFill>
            <a:srgbClr val="132740"/>
          </a:solidFill>
          <a:ln w="889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91840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3364992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Clusters &amp; Clustering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91840" y="365760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Clique cover, k-means, greedy algorithms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989320" y="3090672"/>
            <a:ext cx="2697480" cy="914400"/>
          </a:xfrm>
          <a:prstGeom prst="rect">
            <a:avLst/>
          </a:prstGeom>
          <a:solidFill>
            <a:srgbClr val="132740"/>
          </a:solidFill>
          <a:ln w="889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080760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3364992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Hierarchical Clustering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080760" y="365760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Phylogenetic trees, tree of life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74116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2560320" cy="50886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2560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5.1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834640" y="1463040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Graphs: Definitions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834640" y="2834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</a:rPr>
              <a:t>Nodes, edges, directed vs. undirected, degree, neighborhood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4116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5.1  –  GRAPHS: DEFINITIONS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a Graph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24128"/>
            <a:ext cx="50292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E2C3A"/>
                </a:solidFill>
              </a:rPr>
              <a:t>A graph G = (V, E): V = set of nodes (vertices), E = set of edges</a:t>
            </a:r>
            <a:endParaRPr lang="en-US" sz="12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C3A"/>
                </a:solidFill>
              </a:rPr>
              <a:t>Nodes: represent entities (proteins, genes, routers, …)</a:t>
            </a:r>
            <a:endParaRPr lang="en-US" sz="12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C3A"/>
                </a:solidFill>
              </a:rPr>
              <a:t>Edges: connect pairs of nodes → encode relationships / interactions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C3A"/>
                </a:solidFill>
              </a:rPr>
              <a:t>Number of nodes: n.  Number of edges: m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C3A"/>
                </a:solidFill>
              </a:rPr>
              <a:t>Undirected graph — edges have no direction (G[i][j] = G[j][i])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C3A"/>
                </a:solidFill>
              </a:rPr>
              <a:t>Directed graph (digraph) — each edge has a source and a target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C3A"/>
                </a:solidFill>
              </a:rPr>
              <a:t>Degree deg(v): number of neighbors of node v</a:t>
            </a:r>
            <a:endParaRPr lang="en-US" sz="12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C3A"/>
                </a:solidFill>
              </a:rPr>
              <a:t>In-degree / out-degree: count of incoming / outgoing edges (directed graphs)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C3A"/>
                </a:solidFill>
              </a:rPr>
              <a:t>Neighborhood of v: the set of all nodes adjacent to 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024128"/>
            <a:ext cx="3154680" cy="3246120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87568" y="1097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Key Terms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05856" y="142646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20840" y="142646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set of nodes (vertices)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05856" y="18288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20840" y="18288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set of edges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05856" y="223113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223113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number of nodes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05856" y="263347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0840" y="263347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number of edges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05856" y="303580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deg(v)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0840" y="303580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number of neighbors of 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05856" y="343814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In-deg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343814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# incoming edges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05856" y="384048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Out-deg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20840" y="384048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# outgoing edges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315968"/>
            <a:ext cx="832104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4315968"/>
            <a:ext cx="73152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" y="4361688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Exercise —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7784" y="4626864"/>
            <a:ext cx="80832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Figure 5.1 example: n=7 nodes (proteins), m=9 edges (interactions).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deg(IME2)=3  (neighbors: IME1, UME6, STH1).  deg(HOP2)=0 (isolated node).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5.1  –  GRAPHS: DEFINITIONS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5.1 &amp; 5.2 – Undirected and Directed Graphs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024128"/>
            <a:ext cx="4114800" cy="3273552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" y="111556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Figure 5.1 — Undirected Graph (Yeast Meiosis PPI)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1408176"/>
            <a:ext cx="3913632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V = {DBF20, UME6, IME1, IME2, RIM11, STH1, HOP2}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n=7, m=9.  No directed arrows → undirected.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</a:rPr>
              <a:t>G[i][j] = G[j][i]  (symmetric adjacency matrix).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deg(IME2) = 3  |  deg(HOP2) = 0  (isolated)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Graph is NOT connected (HOP2 is isolated).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024128"/>
            <a:ext cx="4114800" cy="3273552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27448" y="111556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Figure 5.2 — Directed Graph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27448" y="1408176"/>
            <a:ext cx="3913632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In directed graphs each edge has direction:
  source → target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Parallel edges: two or more edges same source→target (B→D in Fig 5.2).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Self-loop: source = target (node B in Fig 5.2).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Models: proteins that activate/inhibit themselves.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Simple graph: no parallel edges, no self-loops.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33425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Figure 5.1.  Protein interaction network in yeast meiosis (undirected).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433425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Figure 5.2.  A directed graph with parallel edges and a self-loop.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2560320" cy="50886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2560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5.2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834640" y="1463040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Graphs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834640" y="2834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</a:rPr>
              <a:t>Assigning real-number weights to edges; biological regulation networks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4116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5.2  –  WEIGHTED GRAPHS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5.3 – Regulation Networks as Weighted Graphs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Weights on edges represent quantities: road lengths, bond strengths, activation/inhibition strength, 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444752"/>
            <a:ext cx="2670048" cy="2487168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(a)  Regulation Network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84708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• IME1 activates IME2  (edge IME1 → IME2)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0545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• IME2 inhibits IME1   (edge IME2 → IME1)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16382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• Directed, unweighted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444752"/>
            <a:ext cx="2670048" cy="2487168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(b)  Weighted Equivalent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84708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• Edge IME1 → IME2 : weight = +1  (activation)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50545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• Edge IME2 → IME1 : weight = −1  (inhibition)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316382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• Positive = activate, Negative = inhibit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1444752"/>
            <a:ext cx="2670048" cy="2487168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2200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(c)  Self-loops Added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184708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• IME1 self-loop : weight = −1  (self-inhibition)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250545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• IME2 self-loop : weight = −1  (self-inhibition)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72200" y="316382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• Models proteins that degrade over 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005072"/>
            <a:ext cx="8321040" cy="804672"/>
          </a:xfrm>
          <a:prstGeom prst="rect">
            <a:avLst/>
          </a:prstGeom>
          <a:solidFill>
            <a:srgbClr val="EBF5F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005072"/>
            <a:ext cx="73152" cy="8046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" y="4050792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C3A"/>
                </a:solidFill>
              </a:rPr>
              <a:t>Key Insight — Regulation Networks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7784" y="4315968"/>
            <a:ext cx="808329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Positive weights (+1): activation of the target protein.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Negative weights (−1): inhibition / repression of the target.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Self-loops with negative weights model self-degradation (Figure 5.3c).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3968496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Figure 5.3.  (a) Regulation network  (b) Weighted equivalent  (c) Self-loops for self-inhibition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2560320" cy="50886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2560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5.3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834640" y="1463040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and Connectivity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834640" y="2834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</a:rPr>
              <a:t>Simple paths, cycles, distance, reachability, connected graphs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4116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5.3  –  PATHS AND CONNECTIVITY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Paths, Cycles, Distance, and Connected Graphs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2412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Simple Path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29844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</a:rPr>
              <a:t>Sequence of distinct nodes where consecutive nodes share an edge.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</a:rPr>
              <a:t>Example (Fig 5.1): p = (DBF20, IME1, RIM11),  |p| = 2.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9659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Cycle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240280"/>
            <a:ext cx="4160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</a:rPr>
              <a:t>Path that starts and ends at the same node.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</a:rPr>
              <a:t>Example (Fig 5.1): p = (DBF20, UME6, IME1, DBF20),  w(p)=3.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</a:rPr>
              <a:t>A graph with no cycles is called acyclic.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06324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Path Length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33756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</a:rPr>
              <a:t>|p| = number of edges.  In weighted graphs: w(p) = sum of edge weights along p.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10241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Distance  dist(v₁, v₂)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29844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</a:rPr>
              <a:t>Minimum number of edges on any path from v₁ to v₂.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</a:rPr>
              <a:t>dist(DBF20, RIM11) = 2.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</a:rPr>
              <a:t>If v₂ is unreachable from v₁ → dist = ∞.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20299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Connected Graph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304288"/>
            <a:ext cx="39776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</a:rPr>
              <a:t>A graph is connected if there is a path from every node to every other node.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</a:rPr>
              <a:t>Fig 5.1 is NOT connected (HOP2 isolated).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</a:rPr>
              <a:t>Removing HOP2 makes it connected.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</a:rPr>
              <a:t>For directed graphs: require a directed path between every two nodes.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858768"/>
            <a:ext cx="832104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858768"/>
            <a:ext cx="73152" cy="7132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" y="3904488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C3A"/>
                </a:solidFill>
              </a:rPr>
              <a:t>Summary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7784" y="4169664"/>
            <a:ext cx="808329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dist(v₁,v₂) = min path length;  dist = ∞ if v₂ unreachable from v₁.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Next chapter: BFS algorithm computes all distances from a source node in O(n+m) time.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2560320" cy="50886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2560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5.4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834640" y="1463040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Eulerian &amp; Hamiltonian Paths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834640" y="2834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</a:rPr>
              <a:t>House of Santa Claus · Seven Bridges of Königsberg · Euler's Theorem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4116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5.4  –  EULERIAN &amp; HAMILTONIAN PATHS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Eulerian Path – Figures 5.4 &amp; 5.5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C3A"/>
                </a:solidFill>
              </a:rPr>
              <a:t>Eulerian Path: visits every edge exactly once.  Eulerian Cycle: additionally starts and ends at the same node.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426464"/>
            <a:ext cx="4114800" cy="1938528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" y="151790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Figure 5.4 — House of Santa Claus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1810512"/>
            <a:ext cx="39136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Can you draw the house without lifting your pen and without retracing any edge?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5 nodes, 8 edges.  Edge numbers show traversal order.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✅  A valid Eulerian path exists!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❌  No Eulerian cycle (start ≠ end; 2 nodes have odd degree).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426464"/>
            <a:ext cx="4114800" cy="1938528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27448" y="151790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Figure 5.5 — Seven Bridges of Königsberg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27448" y="1810512"/>
            <a:ext cx="39136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Euler's problem (1736): cross all 7 bridges exactly once.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Model: 4 land areas = nodes, 7 bridges = edges.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Graph has 3 nodes of degree 3 and 1 node of degree 5.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74C3C"/>
                </a:solidFill>
              </a:rPr>
              <a:t>❌  No Eulerian path or cycle — more than 2 odd-degree nodes.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40156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Figures 5.4 &amp; 5.5.  House of Santa Claus and the Seven Bridges of Königsberg.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767328"/>
            <a:ext cx="8321040" cy="96012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767328"/>
            <a:ext cx="73152" cy="9601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" y="3813048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C3A"/>
                </a:solidFill>
              </a:rPr>
              <a:t>Euler's Theorem (1736)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7784" y="4078224"/>
            <a:ext cx="8083296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(a)  Connected undirected graph has a Eulerian cycle ⟺ every node has even degree.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(b)  Connected undirected graph has a Eulerian path ⟺ exactly two nodes have odd degree.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      The path must begin in one of them and end in the other.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5.4  –  EULERIAN &amp; HAMILTONIAN PATHS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&amp; Hamiltonian Paths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024128"/>
            <a:ext cx="8321040" cy="960120"/>
          </a:xfrm>
          <a:prstGeom prst="rect">
            <a:avLst/>
          </a:prstGeom>
          <a:solidFill>
            <a:srgbClr val="EBF5F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024128"/>
            <a:ext cx="73152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" y="1069848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Exercise 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7784" y="1335024"/>
            <a:ext cx="8083296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(a)  Explain why Figure 5.4 contains a Eulerian path but not a Eulerian cycle.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(b)  Add one edge to Figure 5.4 so that it contains a Eulerian cycle.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0848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C3A"/>
                </a:solidFill>
              </a:rPr>
              <a:t>Intuition for Euler's theorem (a):  Along a cycle, we step in and step out of each node the same number of times → every node degree must be even.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706624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163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Hamiltonian Paths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312724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A Hamiltonian path visits every node exactly once (compare: Eulerian visits every edge exactly once).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Named after physicist William Rowan Hamilton (1805–1865).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730752"/>
            <a:ext cx="8321040" cy="960120"/>
          </a:xfrm>
          <a:prstGeom prst="rect">
            <a:avLst/>
          </a:prstGeom>
          <a:solidFill>
            <a:srgbClr val="EBF5F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730752"/>
            <a:ext cx="73152" cy="9601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" y="3776472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C3A"/>
                </a:solidFill>
              </a:rPr>
              <a:t>Key Contrast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7784" y="4041648"/>
            <a:ext cx="8083296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Eulerian path: polynomial time — just check degrees (Euler's theorem, 1736).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Hamiltonian path: NP-complete — no known polynomial algorithm (see Mission Infeasible chapter).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"Same, same, but different!" — a foundational lesson in computational complexity.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2560320" cy="50886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2560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5.5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834640" y="1463040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Types of Graphs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834640" y="2834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</a:rPr>
              <a:t>Bipartite graphs · Cliques · Trees · Rooted trees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4116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5.5  –  SPECIAL TYPES OF GRAPHS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Graphs – Figure 5.6 &amp; Exercise 2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005840"/>
            <a:ext cx="4937760" cy="3090672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" y="1097280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Bipartite Graph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1389888"/>
            <a:ext cx="4736592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Nodes split into two disjoint sets L and R; all edges go between the sets, never within.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Biological examples: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Enzyme–substrate interaction networks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Gene–disease association networks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Transcription regulation networks:
  Left set = transcription factor genes
  Right set = target gene products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Figure 5.6: bipartite graph with 4+5 nodes (all edges cross between sets).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66360" y="1005840"/>
            <a:ext cx="3566160" cy="1325880"/>
          </a:xfrm>
          <a:prstGeom prst="rect">
            <a:avLst/>
          </a:prstGeom>
          <a:solidFill>
            <a:srgbClr val="EBF5F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66360" y="1005840"/>
            <a:ext cx="73152" cy="1325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312664" y="105156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Exercise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12664" y="1316736"/>
            <a:ext cx="332841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(a)  Is the graph in Figure 5.7 bipartite?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(b)  Specify a condition both necessary and sufficient for bipartiteness.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Hint: look at which cycles are in the graph.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66360" y="2423160"/>
            <a:ext cx="3566160" cy="804672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2423160"/>
            <a:ext cx="73152" cy="8046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5312664" y="246888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C3A"/>
                </a:solidFill>
              </a:rPr>
              <a:t>Bipartite Characterization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12664" y="2734056"/>
            <a:ext cx="332841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A graph is bipartite ⟺ it contains no odd-length cycles.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Figure 5.7 has a triangle (3-cycle) → NOT bipartite.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1330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Figure 5.6.  A bipartite graph.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5.5  –  SPECIAL TYPES OF GRAPHS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Cliques (Fully Connected Graphs) – Figure 5.8 &amp; Exercise 3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005840"/>
            <a:ext cx="4937760" cy="3090672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" y="1097280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Clique / Fully Connected Graph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1389888"/>
            <a:ext cx="4736592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A graph containing all possible edges between all pairs of nodes (no self-loops unless stated).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Number of edges in a clique of n nodes:
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    Without self-loops:  n(n−1)/2
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    With self-loops:     n(n+1)/2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Figure 5.8: cliques with n = 1, 2, 3, 4, 5 nodes.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In biological networks: cliques = maximally dense subnetworks, often with specific designated functionality.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66360" y="1005840"/>
            <a:ext cx="3566160" cy="1078992"/>
          </a:xfrm>
          <a:prstGeom prst="rect">
            <a:avLst/>
          </a:prstGeom>
          <a:solidFill>
            <a:srgbClr val="EBF5F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66360" y="1005840"/>
            <a:ext cx="73152" cy="10789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312664" y="105156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Exercise 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12664" y="1316736"/>
            <a:ext cx="3328416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How many edges are there in a clique of size n?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(a)  Not including self-loops?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(b)  Including self-loops?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66360" y="2176272"/>
            <a:ext cx="3566160" cy="713232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2176272"/>
            <a:ext cx="73152" cy="7132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5312664" y="22219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C3A"/>
                </a:solidFill>
              </a:rPr>
              <a:t>Formula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12664" y="2487168"/>
            <a:ext cx="332841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Without self-loops:   n(n−1)/2   edges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With self-loops:      n(n+1)/2   edges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1330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Figure 5.8.  Cliques with n = 1, 2, 3, 4, 5 nodes.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5.5  –  SPECIAL TYPES OF GRAPHS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– Figure 5.9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005840"/>
            <a:ext cx="4160520" cy="2331720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" y="109728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Tree (Unrooted) — Figure 5.9(a)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1389888"/>
            <a:ext cx="395935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A connected, acyclic undirected graph.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Two key properties: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1.  Removing any single edge disconnects the graph.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2.  Adding any edge introduces a cycle.
</a:t>
            </a:r>
            <a:endParaRPr lang="en-US" sz="110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A tree with n nodes has exactly n−1 edges.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429000"/>
            <a:ext cx="4160520" cy="1828800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" y="35204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Rooted Tree — Figure 5.9(b)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" y="3813048"/>
            <a:ext cx="395935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Special designated node: the root (drawn at top).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Root has children; nodes without children are leaves.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Induces a hierarchical parent–child structure.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Root → subtrees at each level.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Key for phylogenetic trees (Section 5.9).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4023360" cy="4251960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18888" y="106984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Tree Terminology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8888" y="1389888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Root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25312" y="1389888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Designated top node (rooted trees)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18888" y="1901952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Leaf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25312" y="190195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Node with no children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18888" y="2414016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Children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25312" y="2414016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Nodes directly below parent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18888" y="2926080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Subtree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25312" y="292608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Node + all its descendants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18888" y="3438144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Depth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25312" y="343814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Path length from root to node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3950208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Height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25312" y="3950208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Max depth in the tree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18888" y="4462272"/>
            <a:ext cx="1051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n nodes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25312" y="4462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→ exactly n−1 edges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37083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Figure 5.9.  (a) Unrooted tree  (b) Rooted tree with root and leaves labeled.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2560320" cy="50886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2560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5.6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834640" y="1463040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Graphs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834640" y="2834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</a:rPr>
              <a:t>Adjacency matrix and adjacency list in Python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4116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5.6  –  REPRESENTING GRAPHS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For a simple graph with n nodes, an adjacency matrix is an n×n matrix.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Entry G[i][j]=1 if edge between node i and node j, else 0.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591056"/>
            <a:ext cx="5029200" cy="1783080"/>
          </a:xfrm>
          <a:prstGeom prst="rect">
            <a:avLst/>
          </a:prstGeom>
          <a:solidFill>
            <a:srgbClr val="F1F3F5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655064"/>
            <a:ext cx="4846320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node 0 connected to 1,2,3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node 1 connected to 0,2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node 2 connected to 0,1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node 3 connected to 0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Undirected: G[i][j] == G[j][i]  (symmetric)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G[1][2] == 1  (edge 1-2 exists)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G[3][1] == 0  (no edge 3-1)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1005840"/>
            <a:ext cx="3154680" cy="3310128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87568" y="10789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Properties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87568" y="138988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Undirected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748272" y="138988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G[i][j]=G[j][i]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(symmetric)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87568" y="1865376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Directed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48272" y="186537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G[i][j]≠G[j][i]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in general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87568" y="234086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Size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748272" y="234086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Always n×n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87568" y="281635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Space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48272" y="281635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O(n²) even sparse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87568" y="329184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Edge lookup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48272" y="32918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O(1) direct index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87568" y="376732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All neighbors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48272" y="376732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O(n) scan row 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4198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Figure 5.10.  Undirected graph with 4 nodes (adjacency matrix shown).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794760"/>
            <a:ext cx="832104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794760"/>
            <a:ext cx="73152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" y="3840480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Exercise 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7784" y="4105656"/>
            <a:ext cx="8083296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In directed graphs, what does the i-th row represent? And the j-th column?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5.6  –  REPRESENTING GRAPHS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 – Comparison with Matrix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An adjacency list is a list of lists: the i-th inner list contains the neighbors of node 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389888"/>
            <a:ext cx="5029200" cy="1536192"/>
          </a:xfrm>
          <a:prstGeom prst="rect">
            <a:avLst/>
          </a:prstGeom>
          <a:solidFill>
            <a:srgbClr val="F1F3F5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453896"/>
            <a:ext cx="484632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node 0: neighbors are 1,3,2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node 1: neighbors are 2,0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node 2: neighbors are 0,1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node 3: neighbor is 0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G[2] contains neighbors of node 2 (nodes 0 and 1)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77840" y="1005840"/>
            <a:ext cx="3154680" cy="2999232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87568" y="10698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Matrix vs. List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87568" y="1389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Property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65392" y="13898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720A"/>
                </a:solidFill>
              </a:rPr>
              <a:t>Matrix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34656" y="13898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List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87568" y="168249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Space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65392" y="168249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720A"/>
                </a:solidFill>
              </a:rPr>
              <a:t>O(n²)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534656" y="168249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O(n+m)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87568" y="21031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Edge check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65392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720A"/>
                </a:solidFill>
              </a:rPr>
              <a:t>O(1)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34656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O(deg)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87568" y="252374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Neighbors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65392" y="25237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720A"/>
                </a:solidFill>
              </a:rPr>
              <a:t>O(n)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34656" y="25237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O(deg)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87568" y="29443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Add weight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65392" y="29443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720A"/>
                </a:solidFill>
              </a:rPr>
              <a:t>Cell value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34656" y="29443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List element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87568" y="33649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Best for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65392" y="33649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720A"/>
                </a:solidFill>
              </a:rPr>
              <a:t>Dense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34656" y="33649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Sparse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999232"/>
            <a:ext cx="832104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2999232"/>
            <a:ext cx="73152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557784" y="3044952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Exercise 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57784" y="3310128"/>
            <a:ext cx="808329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What are the advantages of each representation? Consider: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(a) How to include weights?   (b) Memory efficiency?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(c) Checking if two nodes are connected?   (d) Printing all neighbors?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2560320" cy="50886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2560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5.7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834640" y="1463040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Graphs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834640" y="2834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</a:rPr>
              <a:t>Erdős–Rényi model · Preferential attachment · Biological network comparison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4116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5.7  –  RANDOM GRAPHS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Graph Models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Random graphs: edges generated by a probabilistic process. Used to model and compare with biological, social, and physical networks.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4160520" cy="2286000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" y="150876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Erdős–Rényi Model  G(n, p)  [1959]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1801368"/>
            <a:ext cx="395935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Start with n nodes, no edges.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For each pair: add edge with probability p (independently).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p=0 → no edges;  p=1 → complete graph (clique).
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Figure 5.11(a): n=10, p=0.35, 0.5, 0.8 — higher p = more edges.
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Figure 5.11(b): same n, p=0.4, three runs → three different graphs.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4069080" cy="2286000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73168" y="150876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Preferential Attachment  [Barabási &amp; Albert, 1999]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73168" y="1801368"/>
            <a:ext cx="386791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00000"/>
                </a:solidFill>
              </a:rPr>
              <a:t>"Rich-get-richer" model — originally by Yule (1925).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Nodes with higher degree are more likely to attract new connections.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Generates scale-free networks (power-law degree distribution).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Better models biological networks and the internet than G(n,p).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767328"/>
            <a:ext cx="8321040" cy="804672"/>
          </a:xfrm>
          <a:prstGeom prst="rect">
            <a:avLst/>
          </a:prstGeom>
          <a:solidFill>
            <a:srgbClr val="EBF5F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767328"/>
            <a:ext cx="73152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" y="3813048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Exercise 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7784" y="4078224"/>
            <a:ext cx="808329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Complete rand_graph(n,p): takes n (nodes) and p (edge prob), returns random undirected graph as binary matrix.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Hint: random.random() returns a pseudo-random float in [0,1).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5.7  –  RANDOM GRAPHS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6 – rand_graph(n, p) Implementation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The Erdős–Rényi G(n,p) model — each pair of nodes independently connected with probability p: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389888"/>
            <a:ext cx="5486400" cy="2788920"/>
          </a:xfrm>
          <a:prstGeom prst="rect">
            <a:avLst/>
          </a:prstGeom>
          <a:solidFill>
            <a:srgbClr val="F1F3F5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453896"/>
            <a:ext cx="5303520" cy="2660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rand_graph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 x n matrix of 0s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upper triangle only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edge with prob p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symmetric (undirected)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Usage: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rand_graph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 10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389888"/>
            <a:ext cx="2743200" cy="2788920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44768" y="14630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Code Notes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44768" y="181051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Upper triangle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44768" y="204825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C3A"/>
                </a:solidFill>
              </a:rPr>
              <a:t>Avoids double-counting pairs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44768" y="241401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Symmetric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44768" y="26517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C3A"/>
                </a:solidFill>
              </a:rPr>
              <a:t>G[i][j]=G[j][i] → undirected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44768" y="301752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No self-loops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44768" y="325526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C3A"/>
                </a:solidFill>
              </a:rPr>
              <a:t>j starts at i+1 effectively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44768" y="362102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p controls density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44768" y="385876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C3A"/>
                </a:solidFill>
              </a:rPr>
              <a:t>Expected edges ≈ p·n(n−1)/2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42245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Figure 5.11.  Generating random graphs with n=10 and various values of p.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2560320" cy="50886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2560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5.8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834640" y="1463040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and Clustering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834640" y="2834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</a:rPr>
              <a:t>Clique cover · Greedy heuristics · k-means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4116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5.8  –  CLUSTERS AND CLUSTERING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and Definitions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C3A"/>
                </a:solidFill>
              </a:rPr>
              <a:t>Clustering: partition objects into groups (clusters) such that objects in the same group are similar, and objects in different groups are distinct.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554480"/>
            <a:ext cx="4114800" cy="2450592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" y="16459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Types of Clustering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1938528"/>
            <a:ext cx="3913632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Supervised: clusters pre-defined; assign objects to known groups.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Unsupervised: discover groups from data itself.
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We know relations between objects (pairwise similarity)
→ model as a graph; edges = pairwise similarity.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Graph view: partition nodes into clusters.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554480"/>
            <a:ext cx="4114800" cy="2450592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27448" y="16459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Biological Applications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27448" y="1938528"/>
            <a:ext cx="3913632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Gene expression clustering: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Cluster genes by expression pattern → 'guilt by association'.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Social network communities: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Identify communities in massive graphs (Facebook: billions of nodes).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Protein function prediction via PPI clusters.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069080"/>
            <a:ext cx="8321040" cy="749808"/>
          </a:xfrm>
          <a:prstGeom prst="rect">
            <a:avLst/>
          </a:prstGeom>
          <a:solidFill>
            <a:srgbClr val="EBF5F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069080"/>
            <a:ext cx="73152" cy="7498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" y="4114800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C3A"/>
                </a:solidFill>
              </a:rPr>
              <a:t>Clique Cover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7784" y="4379976"/>
            <a:ext cx="80832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A clique cover partitions the nodes into cliques (each node belongs to exactly one clique).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Optimization: minimize the number of cliques. This is NP-hard → use heuristics.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5.8  –  CLUSTERS AND CLUSTERING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Cover – Figure 5.12 &amp; Exercise 7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005840"/>
            <a:ext cx="4846320" cy="2999232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" y="1097280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Figure 5.12 — Clique Cover of Size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1389888"/>
            <a:ext cx="4645152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Graph with 7 nodes: A, B, C, D, E, F, G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Clique 1 (green, size 3): {A, B, C}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  All 3 pairs connected (A-B, A-C, B-C).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Clique 2 (purple, size 4): {D, E, F, G}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  All 6 pairs connected.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D4720A"/>
                </a:solidFill>
              </a:rPr>
              <a:t>⚠  The black edge A-E crosses between the two cliques —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D4720A"/>
                </a:solidFill>
              </a:rPr>
              <a:t>  not all edges need to be within cliques!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66360" y="1005840"/>
            <a:ext cx="3566160" cy="1280160"/>
          </a:xfrm>
          <a:prstGeom prst="rect">
            <a:avLst/>
          </a:prstGeom>
          <a:solidFill>
            <a:srgbClr val="EBF5F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66360" y="1005840"/>
            <a:ext cx="73152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312664" y="105156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Exercise 7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12664" y="1316736"/>
            <a:ext cx="332841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Find alternative clique covers for Figure 5.12.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Is there another cover with 2 cliques? With 3 cliques?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Is there a cover that uses more edges than the one shown?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66360" y="2395728"/>
            <a:ext cx="3566160" cy="841248"/>
          </a:xfrm>
          <a:prstGeom prst="rect">
            <a:avLst/>
          </a:prstGeom>
          <a:solidFill>
            <a:srgbClr val="FDEDE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2395728"/>
            <a:ext cx="73152" cy="8412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5312664" y="244144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C3A"/>
                </a:solidFill>
              </a:rPr>
              <a:t>Computational Hardness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12664" y="2706624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Finding a minimum clique cover is NP-hard (exponential worst case).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In practice: use heuristics — fast algorithms that often produce good solutions.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0416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Figure 5.12.  Clique cover of size 2 (green: {A,B,C}; purple: {D,E,F,G}).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5.8  –  CLUSTERS AND CLUSTERING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Cover Heuristic – Greedy Algorithm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005840"/>
            <a:ext cx="8321040" cy="1901952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005840"/>
            <a:ext cx="73152" cy="19019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" y="1051560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C3A"/>
                </a:solidFill>
              </a:rPr>
              <a:t>Clique Cover Heuristic (Greedy)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7784" y="1316736"/>
            <a:ext cx="8083296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1.  Start: each node is a separate singleton cluster.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2.  Repeat until no two cliques can be merged: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3.  For each cluster C: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    3.1  Find all clusters fully connected to C (every node in one connected to every node in other)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    3.2  Among these, identify the largest cluster D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    3.3  Merge C with D → new, larger cluster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98094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C3A"/>
                </a:solidFill>
              </a:rPr>
              <a:t>Greedy: </a:t>
            </a:r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makes the locally best choice (merge largest compatible cluster) at each step, without reconsidering.
</a:t>
            </a:r>
            <a:pPr indent="0" marL="0">
              <a:buNone/>
            </a:pPr>
            <a:r>
              <a:rPr lang="en-US" sz="1150" b="1" dirty="0">
                <a:solidFill>
                  <a:srgbClr val="1E2C3A"/>
                </a:solidFill>
              </a:rPr>
              <a:t>Key property: </a:t>
            </a:r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result depends on the processing order (see Figures 5.13 and 5.14).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611880"/>
            <a:ext cx="8321040" cy="749808"/>
          </a:xfrm>
          <a:prstGeom prst="rect">
            <a:avLst/>
          </a:prstGeom>
          <a:solidFill>
            <a:srgbClr val="EBF5F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611880"/>
            <a:ext cx="73152" cy="7498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" y="3657600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C3A"/>
                </a:solidFill>
              </a:rPr>
              <a:t>Maximizing Agreements (alternative criterion)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7784" y="3922776"/>
            <a:ext cx="80832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Maximize edges within clusters + minimize edges between clusters → "dense" clusters.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This criterion is also computationally hard.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5.8  –  CLUSTERS AND CLUSTERING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Cover Heuristic – Figure 5.13: Execution Run 1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Figure 5.13(b): Run terminates after 5 iterations → two cliques of size 3 each (optimal for this graph).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1627632" cy="1444752"/>
          </a:xfrm>
          <a:prstGeom prst="rect">
            <a:avLst/>
          </a:prstGeom>
          <a:solidFill>
            <a:srgbClr val="F8F9FA"/>
          </a:solidFill>
          <a:ln w="12700">
            <a:solidFill>
              <a:srgbClr val="6C757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417320"/>
            <a:ext cx="1627632" cy="256032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143560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(1) Init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728216"/>
            <a:ext cx="14630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Each node is its own cluster.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Singletons: {A},{B},{C},{D},{E},{F}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98548" y="1417320"/>
            <a:ext cx="1627632" cy="1444752"/>
          </a:xfrm>
          <a:prstGeom prst="rect">
            <a:avLst/>
          </a:prstGeom>
          <a:solidFill>
            <a:srgbClr val="F8F9FA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98548" y="1417320"/>
            <a:ext cx="1627632" cy="2560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2171700" y="143560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(2) Merge B+C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89988" y="1728216"/>
            <a:ext cx="14630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B and C are connected → merge.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{B,C} — first 2-clique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85616" y="1417320"/>
            <a:ext cx="1627632" cy="1444752"/>
          </a:xfrm>
          <a:prstGeom prst="rect">
            <a:avLst/>
          </a:prstGeom>
          <a:solidFill>
            <a:srgbClr val="F8F9FA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85616" y="1417320"/>
            <a:ext cx="1627632" cy="2560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3858768" y="143560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(3) Merge A+{B,C}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77056" y="1728216"/>
            <a:ext cx="14630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A connected to both B and C.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Merge: {A,B,C} — 3-clique ✓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72684" y="1417320"/>
            <a:ext cx="1627632" cy="1444752"/>
          </a:xfrm>
          <a:prstGeom prst="rect">
            <a:avLst/>
          </a:prstGeom>
          <a:solidFill>
            <a:srgbClr val="F8F9FA"/>
          </a:solidFill>
          <a:ln w="12700">
            <a:solidFill>
              <a:srgbClr val="D4720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72684" y="1417320"/>
            <a:ext cx="1627632" cy="256032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4" name="Text 22"/>
          <p:cNvSpPr/>
          <p:nvPr/>
        </p:nvSpPr>
        <p:spPr>
          <a:xfrm>
            <a:off x="5545836" y="143560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(4) Merge D+E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64124" y="1728216"/>
            <a:ext cx="14630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D and E connected → merge.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{D,E} — another 2-clique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59752" y="1417320"/>
            <a:ext cx="1627632" cy="1444752"/>
          </a:xfrm>
          <a:prstGeom prst="rect">
            <a:avLst/>
          </a:prstGeom>
          <a:solidFill>
            <a:srgbClr val="F8F9F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9752" y="1417320"/>
            <a:ext cx="1627632" cy="25603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8" name="Text 26"/>
          <p:cNvSpPr/>
          <p:nvPr/>
        </p:nvSpPr>
        <p:spPr>
          <a:xfrm>
            <a:off x="7232904" y="143560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(5) Merge F+{D,E}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51192" y="1728216"/>
            <a:ext cx="14630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F connected to D and 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Merge: {D,E,F} — 3-clique 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C3A"/>
                </a:solidFill>
              </a:rPr>
              <a:t>Result: 2 cliques, size 3 each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290779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Figure 5.13(b).  Run 1: two cliques of size 3. Node colors represent cluster membership.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3273552"/>
            <a:ext cx="8321040" cy="749808"/>
          </a:xfrm>
          <a:prstGeom prst="rect">
            <a:avLst/>
          </a:prstGeom>
          <a:solidFill>
            <a:srgbClr val="EBF5F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273552"/>
            <a:ext cx="73152" cy="7498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3" name="Text 31"/>
          <p:cNvSpPr/>
          <p:nvPr/>
        </p:nvSpPr>
        <p:spPr>
          <a:xfrm>
            <a:off x="557784" y="3319272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C3A"/>
                </a:solidFill>
              </a:rPr>
              <a:t>Why is this optimal?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57784" y="3584448"/>
            <a:ext cx="80832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Minimum possible number of cliques for this graph = 2.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Run 1 achieves this minimum → greedy worked perfectly here.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5.8  –  CLUSTERS AND CLUSTERING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Cover Heuristic – Figure 5.14: Execution Run 2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Figure 5.14: Different processing order → three cliques of size 2 (suboptimal). Same graph, worse result!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1965960" cy="1572768"/>
          </a:xfrm>
          <a:prstGeom prst="rect">
            <a:avLst/>
          </a:prstGeom>
          <a:solidFill>
            <a:srgbClr val="F8F9FA"/>
          </a:solidFill>
          <a:ln w="12700">
            <a:solidFill>
              <a:srgbClr val="6C757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417320"/>
            <a:ext cx="1965960" cy="256032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1435608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(1) Init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728216"/>
            <a:ext cx="180136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Singletons: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{A},{B},{C},{D},{E},{F}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417320"/>
            <a:ext cx="1965960" cy="1572768"/>
          </a:xfrm>
          <a:prstGeom prst="rect">
            <a:avLst/>
          </a:prstGeom>
          <a:solidFill>
            <a:srgbClr val="F8F9FA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417320"/>
            <a:ext cx="1965960" cy="2560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2542032" y="1435608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(2) Merge D+E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1728216"/>
            <a:ext cx="180136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D and E processed first.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{D,E} — 2-clique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26280" y="1417320"/>
            <a:ext cx="1965960" cy="1572768"/>
          </a:xfrm>
          <a:prstGeom prst="rect">
            <a:avLst/>
          </a:prstGeom>
          <a:solidFill>
            <a:srgbClr val="F8F9FA"/>
          </a:solidFill>
          <a:ln w="12700">
            <a:solidFill>
              <a:srgbClr val="D4720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26280" y="1417320"/>
            <a:ext cx="1965960" cy="256032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0" name="Text 18"/>
          <p:cNvSpPr/>
          <p:nvPr/>
        </p:nvSpPr>
        <p:spPr>
          <a:xfrm>
            <a:off x="4599432" y="1435608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(3) Merge A+B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17720" y="1728216"/>
            <a:ext cx="180136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A and B merged next.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{A,B} — 2-clique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1417320"/>
            <a:ext cx="1965960" cy="1572768"/>
          </a:xfrm>
          <a:prstGeom prst="rect">
            <a:avLst/>
          </a:prstGeom>
          <a:solidFill>
            <a:srgbClr val="F8F9FA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1417320"/>
            <a:ext cx="1965960" cy="2560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6656832" y="1435608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(4) Final state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75120" y="1728216"/>
            <a:ext cx="180136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C and F: no full-clique partners.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Result: {A,B},{D,E},{C,F}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3 cliques, size 2 each 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303580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Figure 5.14.  Run 2: three cliques of size 2 (suboptimal). Order matters in greedy algorithms!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401568"/>
            <a:ext cx="8321040" cy="804672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401568"/>
            <a:ext cx="73152" cy="80467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" y="3447288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C3A"/>
                </a:solidFill>
              </a:rPr>
              <a:t>Key Lesson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7784" y="3712464"/>
            <a:ext cx="808329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Run 1 → 2 cliques of size 3 (optimal).   Run 2 → 3 cliques of size 2 (suboptimal).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Greedy algorithms are order-dependent and not guaranteed to find the global optimum.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5.8  –  CLUSTERS AND CLUSTERING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Heuristic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k-means: cluster n objects (points in metric space) into exactly k clusters by iteratively updating cluster centers.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1444752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417320"/>
            <a:ext cx="73152" cy="14447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" y="1463040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C3A"/>
                </a:solidFill>
              </a:rPr>
              <a:t>k-means Algorithm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7784" y="1728216"/>
            <a:ext cx="80832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1.  Start: randomly choose k centers from the n given points.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2.  Repeat until no change in cluster composition: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    2.1  For each point: assign it to the cluster of the closest center.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    2.2  For each cluster: recalculate center as the mean of its members.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944368"/>
            <a:ext cx="4160520" cy="1389888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" y="3035808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Properties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" y="3328416"/>
            <a:ext cx="39593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Probabilistic — different runs may yield different clusters.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Sensitive to initial center choice; k must be specified in advance.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Works well when true cluster structure exists in the data.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2944368"/>
            <a:ext cx="4160520" cy="1389888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81728" y="3035808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Biological Use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81728" y="3328416"/>
            <a:ext cx="39593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Clustering genes by expression levels across conditions.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Clustering proteins by activity patterns.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Widely used in scRNA-seq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5.8  –  CLUSTERS AND CLUSTERING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Execution – Figure 5.15 (k=3, 11 Iterations)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Figure 5.15: k=3 on 2D points. Circles=points, squares=centers. Even iterations: update centers. Odd: reassign points.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426464"/>
            <a:ext cx="1389888" cy="1261872"/>
          </a:xfrm>
          <a:prstGeom prst="rect">
            <a:avLst/>
          </a:prstGeom>
          <a:solidFill>
            <a:srgbClr val="F8F9FA"/>
          </a:solidFill>
          <a:ln w="889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426464"/>
            <a:ext cx="1389888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144475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(1) Init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1700784"/>
            <a:ext cx="12618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C3A"/>
                </a:solidFill>
              </a:rPr>
              <a:t>3 random centers chosen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56232" y="1426464"/>
            <a:ext cx="1389888" cy="1261872"/>
          </a:xfrm>
          <a:prstGeom prst="rect">
            <a:avLst/>
          </a:prstGeom>
          <a:solidFill>
            <a:srgbClr val="F8F9FA"/>
          </a:solidFill>
          <a:ln w="8890">
            <a:solidFill>
              <a:srgbClr val="D4720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56232" y="1426464"/>
            <a:ext cx="1389888" cy="219456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144475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(2) Centers↑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20240" y="1700784"/>
            <a:ext cx="12618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C3A"/>
                </a:solidFill>
              </a:rPr>
              <a:t>Centers move to cluster means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00984" y="1426464"/>
            <a:ext cx="1389888" cy="1261872"/>
          </a:xfrm>
          <a:prstGeom prst="rect">
            <a:avLst/>
          </a:prstGeom>
          <a:solidFill>
            <a:srgbClr val="F8F9FA"/>
          </a:solidFill>
          <a:ln w="889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00984" y="1426464"/>
            <a:ext cx="1389888" cy="2194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3364992" y="144475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(3) Reassign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64992" y="1700784"/>
            <a:ext cx="12618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C3A"/>
                </a:solidFill>
              </a:rPr>
              <a:t>Points reassigned to nearest center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45736" y="1426464"/>
            <a:ext cx="1389888" cy="1261872"/>
          </a:xfrm>
          <a:prstGeom prst="rect">
            <a:avLst/>
          </a:prstGeom>
          <a:solidFill>
            <a:srgbClr val="F8F9FA"/>
          </a:solidFill>
          <a:ln w="8890">
            <a:solidFill>
              <a:srgbClr val="D4720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45736" y="1426464"/>
            <a:ext cx="1389888" cy="219456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4" name="Text 22"/>
          <p:cNvSpPr/>
          <p:nvPr/>
        </p:nvSpPr>
        <p:spPr>
          <a:xfrm>
            <a:off x="4809744" y="144475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(4) Centers↑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9744" y="1700784"/>
            <a:ext cx="12618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C3A"/>
                </a:solidFill>
              </a:rPr>
              <a:t>Centers updated again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0488" y="1426464"/>
            <a:ext cx="1389888" cy="1261872"/>
          </a:xfrm>
          <a:prstGeom prst="rect">
            <a:avLst/>
          </a:prstGeom>
          <a:solidFill>
            <a:srgbClr val="F8F9FA"/>
          </a:solidFill>
          <a:ln w="889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0488" y="1426464"/>
            <a:ext cx="1389888" cy="2194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6254496" y="144475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(5) Reassign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54496" y="1700784"/>
            <a:ext cx="12618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C3A"/>
                </a:solidFill>
              </a:rPr>
              <a:t>Another membership change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635240" y="1426464"/>
            <a:ext cx="1389888" cy="1261872"/>
          </a:xfrm>
          <a:prstGeom prst="rect">
            <a:avLst/>
          </a:prstGeom>
          <a:solidFill>
            <a:srgbClr val="F8F9FA"/>
          </a:solidFill>
          <a:ln w="8890">
            <a:solidFill>
              <a:srgbClr val="D4720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35240" y="1426464"/>
            <a:ext cx="1389888" cy="219456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32" name="Text 30"/>
          <p:cNvSpPr/>
          <p:nvPr/>
        </p:nvSpPr>
        <p:spPr>
          <a:xfrm>
            <a:off x="7699248" y="144475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(6) Centers↑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99248" y="1700784"/>
            <a:ext cx="12618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C3A"/>
                </a:solidFill>
              </a:rPr>
              <a:t>Centers converging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1480" y="2743200"/>
            <a:ext cx="1389888" cy="1261872"/>
          </a:xfrm>
          <a:prstGeom prst="rect">
            <a:avLst/>
          </a:prstGeom>
          <a:solidFill>
            <a:srgbClr val="F8F9FA"/>
          </a:solidFill>
          <a:ln w="889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2743200"/>
            <a:ext cx="1389888" cy="2194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" y="276148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(7) Reassign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488" y="3017520"/>
            <a:ext cx="12618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C3A"/>
                </a:solidFill>
              </a:rPr>
              <a:t>Another change noted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56232" y="2743200"/>
            <a:ext cx="1389888" cy="1261872"/>
          </a:xfrm>
          <a:prstGeom prst="rect">
            <a:avLst/>
          </a:prstGeom>
          <a:solidFill>
            <a:srgbClr val="F8F9FA"/>
          </a:solidFill>
          <a:ln w="8890">
            <a:solidFill>
              <a:srgbClr val="D4720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856232" y="2743200"/>
            <a:ext cx="1389888" cy="219456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40" name="Text 38"/>
          <p:cNvSpPr/>
          <p:nvPr/>
        </p:nvSpPr>
        <p:spPr>
          <a:xfrm>
            <a:off x="1920240" y="276148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(8) Centers↑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920240" y="3017520"/>
            <a:ext cx="12618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C3A"/>
                </a:solidFill>
              </a:rPr>
              <a:t>Centers computed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300984" y="2743200"/>
            <a:ext cx="1389888" cy="1261872"/>
          </a:xfrm>
          <a:prstGeom prst="rect">
            <a:avLst/>
          </a:prstGeom>
          <a:solidFill>
            <a:srgbClr val="F8F9FA"/>
          </a:solidFill>
          <a:ln w="889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300984" y="2743200"/>
            <a:ext cx="1389888" cy="2194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4" name="Text 42"/>
          <p:cNvSpPr/>
          <p:nvPr/>
        </p:nvSpPr>
        <p:spPr>
          <a:xfrm>
            <a:off x="3364992" y="276148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(9) Reassign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64992" y="3017520"/>
            <a:ext cx="12618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C3A"/>
                </a:solidFill>
              </a:rPr>
              <a:t>Final adjustment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45736" y="2743200"/>
            <a:ext cx="1389888" cy="1261872"/>
          </a:xfrm>
          <a:prstGeom prst="rect">
            <a:avLst/>
          </a:prstGeom>
          <a:solidFill>
            <a:srgbClr val="F8F9FA"/>
          </a:solidFill>
          <a:ln w="8890">
            <a:solidFill>
              <a:srgbClr val="D4720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45736" y="2743200"/>
            <a:ext cx="1389888" cy="219456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48" name="Text 46"/>
          <p:cNvSpPr/>
          <p:nvPr/>
        </p:nvSpPr>
        <p:spPr>
          <a:xfrm>
            <a:off x="4809744" y="276148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(10) Centers↑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09744" y="3017520"/>
            <a:ext cx="12618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C3A"/>
                </a:solidFill>
              </a:rPr>
              <a:t>Centers finalized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90488" y="2743200"/>
            <a:ext cx="1389888" cy="1261872"/>
          </a:xfrm>
          <a:prstGeom prst="rect">
            <a:avLst/>
          </a:prstGeom>
          <a:solidFill>
            <a:srgbClr val="F8F9FA"/>
          </a:solidFill>
          <a:ln w="2286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90488" y="2743200"/>
            <a:ext cx="1389888" cy="2194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2" name="Text 50"/>
          <p:cNvSpPr/>
          <p:nvPr/>
        </p:nvSpPr>
        <p:spPr>
          <a:xfrm>
            <a:off x="6254496" y="276148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(11) Converged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54496" y="3017520"/>
            <a:ext cx="12618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C3A"/>
                </a:solidFill>
              </a:rPr>
              <a:t>No change → done!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C3A"/>
                </a:solidFill>
              </a:rPr>
              <a:t>Final clusters ✓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11480" y="431596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Figure 5.15.  k-means (k=3): 11 iterations to convergence. Orange=center update, green=point reassignment.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2560320" cy="50886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2560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5.9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834640" y="1463040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Phylogenetic Trees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834640" y="2834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</a:rPr>
              <a:t>Rooted tree structure · Eukaryota tree · Tree of life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4116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5.9  –  HIERARCHICAL CLUSTERING &amp; PHYLOGENETIC TREES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– Figure 5.16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Hierarchical clustering: an object belongs to more than one cluster. Clusters are nested: any two clusters A, B are disjoint or one is a subset of the other.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554480"/>
            <a:ext cx="4114800" cy="2542032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" y="16459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20A"/>
                </a:solidFill>
              </a:rPr>
              <a:t>Non-Hierarchical Clustering (Figure 5.16 left)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1938528"/>
            <a:ext cx="3913632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Each point belongs to exactly one cluster.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Example — 6 points, 2D Euclidean space: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  Cluster 1 (red):    {1, 2}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  Cluster 2 (green): {3}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  Cluster 3 (blue):  {4, 5, 6}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Simple flat partitioning.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554480"/>
            <a:ext cx="4114800" cy="2542032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27448" y="16459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Hierarchical Clustering (Figure 5.16 right)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27448" y="1938528"/>
            <a:ext cx="3913632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Same 6 points → a rooted dendrogram.
</a:t>
            </a:r>
            <a:endParaRPr lang="en-US" sz="110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Property: for any two clusters A, B: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  A ∩ B = ∅  (disjoint), or
  A ⊆ B, or B ⊆ A  (nested)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Root = all objects; leaves = individual objects.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</a:rPr>
              <a:t>Distance metric: Euclidean distance.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13308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Figure 5.16.  (a) 6 points in 2D space  (b) Non-hierarchical (left) vs. hierarchical (right) results.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5.9  –  HIERARCHICAL CLUSTERING &amp; PHYLOGENETIC TREES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Phylogenetic Trees – Figure 5.17 (Eukaryota)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Phylogenetic trees represent evolutionary relationships between species. Input: aligned DNA/amino-acid sequences (modern) or fossil records (classical).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517904"/>
            <a:ext cx="4114800" cy="2487168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" y="160934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Figure 5.17 — Eukaryota Tree (iTOL)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1901952"/>
            <a:ext cx="39136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23 species from Giardia lamblia to Pan troglodytes.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Homo sapiens cluster path: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  Homo sapiens ⊂ Primates ⊂ Mammalia
  ⊂ Vertebrata ⊂ Eukarya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Any two clusters are disjoint or one is a subset of the other → natural rooted tree structure.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517904"/>
            <a:ext cx="4114800" cy="2487168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27448" y="160934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Phylogenetic Reconstruction Methods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27448" y="1901952"/>
            <a:ext cx="39136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Distance-based: UPGMA, Neighbor-Joining.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Sequence-based: max. parsimony, max. likelihood, Bayesian.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Most methods optimize an objective function.
Computationally hard in general, but heuristics often produce satisfactory results.
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</a:rPr>
              <a:t>Source: iTOL (itol.embl.de)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04164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Figure 5.17.  Eukaryota tree generated with iTOL (https://itol.embl.de/).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137160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Reflection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</a:rPr>
              <a:t>Graph theory foundations and connections to algorithms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 this chapter, we introduced the fundamental notions of graph theory: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8321040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Directed and undirected graphs, weighted graphs, degree, neighborhood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Paths, cycles, distance, acyclic graphs, connected graphs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Special types: bipartite, clique, tree, rooted tree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Python representations: adjacency matrix (O(n²)) and adjacency list (O(n+m))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Random graph models: Erdős–Rényi G(n,p) and preferential attachment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Clustering: clique cover (greedy, NP-hard), k-means (iterative), hierarchical / phylogenetic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42245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Next chapter: Graph Algorithms — BFS for shortest paths in unweighted graphs.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74116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2560320" cy="50886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2560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</a:rPr>
              <a:t>★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834640" y="14630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Challenge Yourself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834640" y="274320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</a:rPr>
              <a:t>Programming problems using graph theory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4116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CHALLENGE YOURSELF  –  PROBLEM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– Graph Isomorphism (Figures 5.18–5.20)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Two graphs are isomorphic if we can permute the nodes to exactly transform one into the other (preserve all connecting edges).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444752"/>
            <a:ext cx="4892040" cy="2633472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" y="1536192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Figures 5.18 &amp; 5.19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1828800"/>
            <a:ext cx="4690872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Figure 5.18: Three graphs — only LEFT and MIDDLE are isomorphic.
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  Both have 4 nodes, same structure. RIGHT has different edge count.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Figure 5.19: Larger isomorphic pair (Graph G and Graph H).
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  Mapping: f(a)=1, f(b)=6, f(c)=8, f(d)=3, f(g)=5, …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Related to chain isomerism (skeletal isomerism) in chemistry.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Figure 5.20: Are these two graphs isomorphic? (See questions below.)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0" y="1444752"/>
            <a:ext cx="3429000" cy="2633472"/>
          </a:xfrm>
          <a:prstGeom prst="rect">
            <a:avLst/>
          </a:prstGeom>
          <a:solidFill>
            <a:srgbClr val="EBF5F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03520" y="1444752"/>
            <a:ext cx="73152" cy="2633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49824" y="150876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Questions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9824" y="1810512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(a)  Are the graphs in Figure 5.20 isomorphic? Find a sufficient explanation.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9824" y="2468880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(b)  Find two non-isomorphic graphs with the same degree distribution.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49824" y="3127248"/>
            <a:ext cx="31638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(c)  Is 'same degree distribution' necessary and/or sufficient for isomorphism?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133088"/>
            <a:ext cx="8321040" cy="713232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4133088"/>
            <a:ext cx="73152" cy="7132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" y="4178808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C3A"/>
                </a:solidFill>
              </a:rPr>
              <a:t>Computational Note (Babai, 2015)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7784" y="4443984"/>
            <a:ext cx="808329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Graph isomorphism is not trivially solvable but recent work by Laszlo Babai shows it's quasi-polynomial — not computationally very hard.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CHALLENGE YOURSELF  –  PROBLEM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– Hubs in Directed Graphs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941832"/>
            <a:ext cx="832104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A hub is a node with exceptionally high degree. In biological networks, hubs often play key regulatory roles.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C3A"/>
                </a:solidFill>
              </a:rPr>
              <a:t>Complete the function hub(G, inout) — finds node with maximal in/out degree.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5303520" cy="2670048"/>
          </a:xfrm>
          <a:prstGeom prst="rect">
            <a:avLst/>
          </a:prstGeom>
          <a:solidFill>
            <a:srgbClr val="F1F3F5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636776"/>
            <a:ext cx="512064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inout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maximal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degree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digraph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inout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"in"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"out"</a:t>
            </a:r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max_degree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hub_node_index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max_deg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hub_node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inout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"in"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sum column i</a:t>
            </a:r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inout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"out"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sum row i</a:t>
            </a:r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max_deg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max_deg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</a:t>
            </a:r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hub_node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</a:rPr>
              <a:t>
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max_deg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80" dirty="0">
                <a:solidFill>
                  <a:srgbClr val="1E2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hub_node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852160" y="1572768"/>
            <a:ext cx="2880360" cy="2670048"/>
          </a:xfrm>
          <a:prstGeom prst="rect">
            <a:avLst/>
          </a:prstGeom>
          <a:solidFill>
            <a:srgbClr val="F8F9FA"/>
          </a:solidFill>
          <a:ln w="889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61888" y="16459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Code Notes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61888" y="19933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Column sum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61888" y="22311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C3A"/>
                </a:solidFill>
              </a:rPr>
              <a:t>In-degree of node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61888" y="252374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Row sum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61888" y="27614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C3A"/>
                </a:solidFill>
              </a:rPr>
              <a:t>Out-degree of node 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61888" y="305409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Tie-break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61888" y="32918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C3A"/>
                </a:solidFill>
              </a:rPr>
              <a:t>Returns first maximum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61888" y="35844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Return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61888" y="38221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C3A"/>
                </a:solidFill>
              </a:rPr>
              <a:t>(max_degree, node_index)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279392"/>
            <a:ext cx="832104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279392"/>
            <a:ext cx="73152" cy="7132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" y="4325112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C3A"/>
                </a:solidFill>
              </a:rPr>
              <a:t>Biological relevance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7784" y="4590288"/>
            <a:ext cx="808329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C3A"/>
                </a:solidFill>
              </a:rPr>
              <a:t>Hubs in PPI networks often encode essential proteins. In directed graphs: in-hubs = highly regulated targets; out-hubs = master regulators.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164592"/>
            <a:ext cx="201168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CHAPTER 5  – 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Chapter Summary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2697480" cy="822960"/>
          </a:xfrm>
          <a:prstGeom prst="rect">
            <a:avLst/>
          </a:prstGeom>
          <a:solidFill>
            <a:srgbClr val="132740"/>
          </a:solidFill>
          <a:ln w="762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521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2532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Graph G=(V,E). Nodes, edges, degree, in/out-degree, neighborhood. Directed vs. undirected. Simple graph.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97480" cy="822960"/>
          </a:xfrm>
          <a:prstGeom prst="rect">
            <a:avLst/>
          </a:prstGeom>
          <a:solidFill>
            <a:srgbClr val="132740"/>
          </a:solidFill>
          <a:ln w="762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521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1371600"/>
            <a:ext cx="2532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Weighted graphs: edge weights encode real-valued info. +1=activation, −1=inhibition in regulation networks.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89320" y="1097280"/>
            <a:ext cx="2697480" cy="822960"/>
          </a:xfrm>
          <a:prstGeom prst="rect">
            <a:avLst/>
          </a:prstGeom>
          <a:solidFill>
            <a:srgbClr val="132740"/>
          </a:solidFill>
          <a:ln w="762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1521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80760" y="1371600"/>
            <a:ext cx="2532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Simple path, cycle, acyclic. Distance=min edges; dist=∞ if unreachable. Connected=path between every pair.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1993392"/>
            <a:ext cx="2697480" cy="822960"/>
          </a:xfrm>
          <a:prstGeom prst="rect">
            <a:avLst/>
          </a:prstGeom>
          <a:solidFill>
            <a:srgbClr val="132740"/>
          </a:solidFill>
          <a:ln w="762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482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267712"/>
            <a:ext cx="2532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Eulerian path (every edge once): solvable by Euler's degree theorem. Hamiltonian path (every node once): NP-complete.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0" y="1993392"/>
            <a:ext cx="2697480" cy="822960"/>
          </a:xfrm>
          <a:prstGeom prst="rect">
            <a:avLst/>
          </a:prstGeom>
          <a:solidFill>
            <a:srgbClr val="132740"/>
          </a:solidFill>
          <a:ln w="762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0482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2267712"/>
            <a:ext cx="2532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Bipartite (2 disjoint sets). Clique (all edges; n(n−1)/2). Tree (connected+acyclic; n nodes → n−1 edges).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89320" y="1993392"/>
            <a:ext cx="2697480" cy="822960"/>
          </a:xfrm>
          <a:prstGeom prst="rect">
            <a:avLst/>
          </a:prstGeom>
          <a:solidFill>
            <a:srgbClr val="132740"/>
          </a:solidFill>
          <a:ln w="762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20482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80760" y="2267712"/>
            <a:ext cx="2532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Adjacency matrix: O(n²) space, O(1) lookup. Adjacency list: O(n+m) space, O(deg) neighbors.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2889504"/>
            <a:ext cx="2697480" cy="822960"/>
          </a:xfrm>
          <a:prstGeom prst="rect">
            <a:avLst/>
          </a:prstGeom>
          <a:solidFill>
            <a:srgbClr val="132740"/>
          </a:solidFill>
          <a:ln w="762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9443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163824"/>
            <a:ext cx="2532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Erdős–Rényi G(n,p): each edge with prob. p. Preferential attachment: scale-free (rich-get-richer).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0" y="2889504"/>
            <a:ext cx="2697480" cy="822960"/>
          </a:xfrm>
          <a:prstGeom prst="rect">
            <a:avLst/>
          </a:prstGeom>
          <a:solidFill>
            <a:srgbClr val="132740"/>
          </a:solidFill>
          <a:ln w="762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9443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91840" y="3163824"/>
            <a:ext cx="2532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Clique cover heuristic (greedy, order-dependent). k-means: assign→update centers, iterate. Both heuristic.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89320" y="2889504"/>
            <a:ext cx="2697480" cy="822960"/>
          </a:xfrm>
          <a:prstGeom prst="rect">
            <a:avLst/>
          </a:prstGeom>
          <a:solidFill>
            <a:srgbClr val="132740"/>
          </a:solidFill>
          <a:ln w="762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9443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5.9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80760" y="3163824"/>
            <a:ext cx="25328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Hierarchical clustering: nested clusters → dendrogram. Phylogenetic trees reconstruct evolutionary history.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461772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Reference:  Barabási &amp; Albert (1999) Science 286.5439 · iTOL: itol.embl.de · doi:10.1017/9781108178327.009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74116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</a:rPr>
              <a:t>Chor &amp; Rubenstein  |  Computational Thinking for Life Scientists  |  Cambridge University Press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Basic Notions in Graph Theory</dc:title>
  <dc:subject>PptxGenJS Presentation</dc:subject>
  <dc:creator>Chor &amp; Rubenstein</dc:creator>
  <cp:lastModifiedBy>Chor &amp; Rubenstein</cp:lastModifiedBy>
  <cp:revision>1</cp:revision>
  <dcterms:created xsi:type="dcterms:W3CDTF">2026-06-09T21:50:41Z</dcterms:created>
  <dcterms:modified xsi:type="dcterms:W3CDTF">2026-06-09T21:50:41Z</dcterms:modified>
</cp:coreProperties>
</file>